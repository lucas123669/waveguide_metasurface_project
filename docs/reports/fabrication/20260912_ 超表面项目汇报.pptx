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2"/>
  </p:notesMasterIdLst>
  <p:sldIdLst>
    <p:sldId id="256" r:id="rId2"/>
    <p:sldId id="625" r:id="rId3"/>
    <p:sldId id="629" r:id="rId4"/>
    <p:sldId id="638" r:id="rId5"/>
    <p:sldId id="639" r:id="rId6"/>
    <p:sldId id="640" r:id="rId7"/>
    <p:sldId id="642" r:id="rId8"/>
    <p:sldId id="641" r:id="rId9"/>
    <p:sldId id="643" r:id="rId10"/>
    <p:sldId id="637" r:id="rId11"/>
  </p:sldIdLst>
  <p:sldSz cx="14400213" cy="10799763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94797B8-74F8-4795-80FC-C5D51782C427}">
          <p14:sldIdLst>
            <p14:sldId id="256"/>
          </p14:sldIdLst>
        </p14:section>
        <p14:section name="背景" id="{DC40BE58-D2B4-43CF-ACC5-8345F232D7CB}">
          <p14:sldIdLst>
            <p14:sldId id="625"/>
            <p14:sldId id="629"/>
            <p14:sldId id="638"/>
            <p14:sldId id="639"/>
            <p14:sldId id="640"/>
            <p14:sldId id="642"/>
            <p14:sldId id="641"/>
            <p14:sldId id="643"/>
          </p14:sldIdLst>
        </p14:section>
        <p14:section name="正文" id="{D0387557-F011-4D32-8F45-623DF1DA209B}">
          <p14:sldIdLst>
            <p14:sldId id="637"/>
          </p14:sldIdLst>
        </p14:section>
        <p14:section name="补充材料" id="{270695B0-5E6B-49BF-B8E2-3939BC765142}">
          <p14:sldIdLst/>
        </p14:section>
        <p14:section name="其它" id="{8A2B821B-2626-44E3-A76D-21C4A4BFE9E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jzh2001@163.com" initials="g" lastIdx="5" clrIdx="0">
    <p:extLst>
      <p:ext uri="{19B8F6BF-5375-455C-9EA6-DF929625EA0E}">
        <p15:presenceInfo xmlns:p15="http://schemas.microsoft.com/office/powerpoint/2012/main" userId="da940b3adbb593a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0000"/>
    <a:srgbClr val="F14040"/>
    <a:srgbClr val="1A6FDF"/>
    <a:srgbClr val="FF0C0C"/>
    <a:srgbClr val="FFFFFF"/>
    <a:srgbClr val="FE524B"/>
    <a:srgbClr val="5C1FDE"/>
    <a:srgbClr val="5FC1CA"/>
    <a:srgbClr val="F5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9" autoAdjust="0"/>
    <p:restoredTop sz="85159" autoAdjust="0"/>
  </p:normalViewPr>
  <p:slideViewPr>
    <p:cSldViewPr snapToGrid="0">
      <p:cViewPr varScale="1">
        <p:scale>
          <a:sx n="45" d="100"/>
          <a:sy n="45" d="100"/>
        </p:scale>
        <p:origin x="1867" y="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89BD0-8A8E-433C-9293-8102EE62404B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52872-8605-4D31-BE76-04D90B4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8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1pPr>
    <a:lvl2pPr marL="719999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2pPr>
    <a:lvl3pPr marL="1439997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3pPr>
    <a:lvl4pPr marL="2159996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4pPr>
    <a:lvl5pPr marL="2879994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5pPr>
    <a:lvl6pPr marL="3599993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6pPr>
    <a:lvl7pPr marL="4319991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7pPr>
    <a:lvl8pPr marL="5039990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8pPr>
    <a:lvl9pPr marL="5759988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6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75B0-56C3-D268-83FD-BBFF1929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2881CF-6E17-25C4-3F39-7543EFEB3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DE4FF4-DB7B-BD49-2080-7F69A27F1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2EA7F-3908-3757-DAB0-FCCBFEB1D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7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368B4-981F-48AC-86B1-CEB82E33D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CD90C4-4165-4C4E-B584-79DEA8FE6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5741E1-51E1-1F6E-99CA-FB28D1E81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389138-65F0-A37B-733A-34A128687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1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FC3AF-60C5-55C2-8738-5E05F8F87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ADF714-F2E7-DB8C-A7B1-4227E7D54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0ABD87-EC14-AD41-0517-D9E65C28A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EDDF79-6B46-D241-2582-12945A80E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57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CA741-FE76-20CE-AB61-1823B2AA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45EFBF-9594-F6E8-146B-25D1900B7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CAF8F3-9C15-C41E-72EF-710544BC5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91CA20-2301-D234-B4F9-E0646CEC7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34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47C6-14CB-C428-83DA-3EC4D8BFC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4E0A54-13B3-E372-02E1-49A3DE0E9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63DF30-1C92-62C9-13EB-985470D61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5D55AC-9C43-767E-4C52-EE140A93C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36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ECD7F-904B-3DA0-C0F5-5AFFCCE7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DDA733-7810-82BC-0936-38DD54E50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97C540-BF0A-5181-AD0D-D08D5E6F6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C0649A-0698-5050-E851-8523F81A6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31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613FD-C204-45BB-3BAE-6BFE8BA5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1D8C13-2906-E609-C82B-86091327E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6FF710-53EB-AD9B-196A-DCE4453CD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9C4AA2-196C-4AA2-AA36-81508C69A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76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7565-E19F-041F-20E4-466A9541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902C36-A67E-9909-BC10-268642F70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C3D7A6-397E-7E12-44E5-A04A7DD34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CD294B-39FB-477D-98FB-92D0E4F82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25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6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13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02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33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3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7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5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9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6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5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ED29C-D6A0-4CF9-9E09-167CE041D3F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5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oitec.com/home/technology/innovation/smart-cut?f_link_type=f_linkinlinenote&amp;flow_extra=eyJkb2NfcG9zaXRpb24iOjAsImRvY19pZCI6IjgwYmVmMzlkYzQ3NmFiMzMtZTQ2MjE0MzAyZTNhMmVkNiIsImlubGluZV9kaXNwbGF5X3Bvc2l0aW9uIjowfQ%3D%3D" TargetMode="Externa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E8B83BA0-94B1-49D2-95F5-FFBA3CF5E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9519" y="6461375"/>
            <a:ext cx="10800160" cy="2018317"/>
          </a:xfrm>
        </p:spPr>
        <p:txBody>
          <a:bodyPr/>
          <a:lstStyle/>
          <a:p>
            <a:r>
              <a:rPr lang="zh-CN" altLang="en-US" dirty="0"/>
              <a:t>汇报时间</a:t>
            </a:r>
            <a:r>
              <a:rPr lang="en-US" altLang="zh-CN" dirty="0"/>
              <a:t>:2026.09.12</a:t>
            </a:r>
          </a:p>
          <a:p>
            <a:r>
              <a:rPr lang="zh-CN" altLang="en-US" dirty="0"/>
              <a:t>汇报人</a:t>
            </a:r>
            <a:r>
              <a:rPr lang="en-US" altLang="zh-CN" dirty="0"/>
              <a:t>:</a:t>
            </a:r>
            <a:r>
              <a:rPr lang="zh-CN" altLang="en-US" dirty="0"/>
              <a:t>刘畅 </a:t>
            </a:r>
            <a:endParaRPr lang="en-US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1980E9CE-FFAD-8874-147A-76205EE2E115}"/>
              </a:ext>
            </a:extLst>
          </p:cNvPr>
          <p:cNvSpPr txBox="1">
            <a:spLocks/>
          </p:cNvSpPr>
          <p:nvPr/>
        </p:nvSpPr>
        <p:spPr>
          <a:xfrm>
            <a:off x="1161651" y="9282604"/>
            <a:ext cx="13062347" cy="2018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439997" rtl="0" eaLnBrk="1" latinLnBrk="0" hangingPunct="1">
              <a:lnSpc>
                <a:spcPct val="90000"/>
              </a:lnSpc>
              <a:spcBef>
                <a:spcPts val="1575"/>
              </a:spcBef>
              <a:buFont typeface="Arial" panose="020B0604020202020204" pitchFamily="34" charset="0"/>
              <a:buNone/>
              <a:defRPr sz="37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999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9997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59996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79994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99993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19991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39990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59988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Web:https</a:t>
            </a:r>
            <a:r>
              <a:rPr lang="en-US" dirty="0"/>
              <a:t>://github.com/Lucas123669/</a:t>
            </a:r>
            <a:r>
              <a:rPr lang="en-US" dirty="0" err="1"/>
              <a:t>Waveguide_Metasurface_Project</a:t>
            </a:r>
            <a:r>
              <a:rPr lang="en-US" dirty="0"/>
              <a:t>/tree/main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BA211BC0-1D4C-E113-FEF5-0EAE9D57A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9372" y="3251201"/>
            <a:ext cx="12523961" cy="2967893"/>
          </a:xfrm>
        </p:spPr>
        <p:txBody>
          <a:bodyPr>
            <a:noAutofit/>
          </a:bodyPr>
          <a:lstStyle/>
          <a:p>
            <a:pPr>
              <a:defRPr/>
            </a:pPr>
            <a:br>
              <a:rPr lang="en-US" altLang="zh-CN" sz="7200" b="1" dirty="0">
                <a:ln/>
                <a:solidFill>
                  <a:srgbClr val="111111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</a:br>
            <a:r>
              <a:rPr lang="zh-CN" altLang="en-US" sz="7200" b="1" dirty="0">
                <a:ln/>
                <a:solidFill>
                  <a:srgbClr val="111111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超表面材料分析</a:t>
            </a:r>
            <a:br>
              <a:rPr lang="en-US" altLang="zh-CN" sz="7200" b="1" dirty="0">
                <a:ln/>
                <a:solidFill>
                  <a:srgbClr val="111111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</a:br>
            <a:r>
              <a:rPr lang="zh-CN" altLang="en-US" sz="7200" b="1" dirty="0">
                <a:ln/>
                <a:solidFill>
                  <a:srgbClr val="111111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以及加工路径选择</a:t>
            </a:r>
            <a:br>
              <a:rPr lang="zh-CN" altLang="en-US" sz="7200" dirty="0"/>
            </a:br>
            <a:endParaRPr lang="zh-CN" altLang="en-US" sz="7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1E9D48-39B6-D5C4-626E-7C17F6293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05818" y="1608666"/>
            <a:ext cx="8611636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95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03374-D895-4E56-815E-A1FBC49B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  <a:ea typeface="+mn-ea"/>
              </a:rPr>
              <a:t>康宁玻璃的咨询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67E3E63-9DB4-4070-8757-B5FE6BC93144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6F34757D-0F03-AFA2-9550-E4A717072F85}"/>
              </a:ext>
            </a:extLst>
          </p:cNvPr>
          <p:cNvSpPr txBox="1">
            <a:spLocks/>
          </p:cNvSpPr>
          <p:nvPr/>
        </p:nvSpPr>
        <p:spPr>
          <a:xfrm>
            <a:off x="7704667" y="3635549"/>
            <a:ext cx="6137031" cy="13089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43999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92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60000"/>
              </a:lnSpc>
            </a:pPr>
            <a:r>
              <a:rPr lang="zh-CN" altLang="en-US" sz="3200" dirty="0">
                <a:latin typeface="+mn-ea"/>
                <a:ea typeface="+mn-ea"/>
              </a:rPr>
              <a:t>璇相科技购买的型号是</a:t>
            </a:r>
            <a:endParaRPr lang="en-US" altLang="zh-CN" sz="3200" dirty="0">
              <a:latin typeface="+mn-ea"/>
              <a:ea typeface="+mn-ea"/>
            </a:endParaRPr>
          </a:p>
          <a:p>
            <a:r>
              <a:rPr lang="en-US" altLang="zh-CN" sz="3200" dirty="0">
                <a:latin typeface="+mn-ea"/>
                <a:ea typeface="+mn-ea"/>
              </a:rPr>
              <a:t>——</a:t>
            </a:r>
            <a:r>
              <a:rPr lang="zh-CN" altLang="zh-CN" sz="4400" dirty="0"/>
              <a:t>HPFS 7980 0-AA</a:t>
            </a:r>
            <a:endParaRPr lang="en-US" sz="3200" dirty="0">
              <a:latin typeface="+mn-ea"/>
              <a:ea typeface="+mn-ea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095D8474-9237-348D-FAE4-76F799E3F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504360"/>
              </p:ext>
            </p:extLst>
          </p:nvPr>
        </p:nvGraphicFramePr>
        <p:xfrm>
          <a:off x="838200" y="1557761"/>
          <a:ext cx="11201399" cy="1371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618">
                  <a:extLst>
                    <a:ext uri="{9D8B030D-6E8A-4147-A177-3AD203B41FA5}">
                      <a16:colId xmlns:a16="http://schemas.microsoft.com/office/drawing/2014/main" val="3836350550"/>
                    </a:ext>
                  </a:extLst>
                </a:gridCol>
                <a:gridCol w="8398781">
                  <a:extLst>
                    <a:ext uri="{9D8B030D-6E8A-4147-A177-3AD203B41FA5}">
                      <a16:colId xmlns:a16="http://schemas.microsoft.com/office/drawing/2014/main" val="5803790"/>
                    </a:ext>
                  </a:extLst>
                </a:gridCol>
              </a:tblGrid>
              <a:tr h="1371705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zh-CN" sz="3200" dirty="0">
                          <a:effectLst/>
                        </a:rPr>
                        <a:t>项</a:t>
                      </a:r>
                      <a:r>
                        <a:rPr lang="zh-CN" altLang="en-US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目尺寸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zh-CN" altLang="en-US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晶圆直径 ≤</a:t>
                      </a:r>
                      <a:r>
                        <a:rPr lang="en-US" altLang="zh-CN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 mm</a:t>
                      </a:r>
                      <a:r>
                        <a:rPr lang="zh-CN" altLang="en-US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D100/D150/D200/D300 </a:t>
                      </a:r>
                      <a:r>
                        <a:rPr lang="zh-CN" altLang="en-US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可选），</a:t>
                      </a:r>
                      <a:r>
                        <a:rPr lang="en-US" altLang="zh-CN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t≥300 μm</a:t>
                      </a:r>
                      <a:endParaRPr lang="zh-CN" altLang="en-US" sz="3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896197376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7E5B7386-02AD-23FE-57EF-FBA3732B426C}"/>
              </a:ext>
            </a:extLst>
          </p:cNvPr>
          <p:cNvSpPr txBox="1"/>
          <p:nvPr/>
        </p:nvSpPr>
        <p:spPr>
          <a:xfrm>
            <a:off x="7696198" y="5364834"/>
            <a:ext cx="99313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0" i="0" dirty="0">
                <a:solidFill>
                  <a:schemeClr val="tx1"/>
                </a:solidFill>
                <a:effectLst/>
                <a:latin typeface="+mn-lt"/>
              </a:rPr>
              <a:t>1550 nm处</a:t>
            </a:r>
            <a:endParaRPr lang="en-US" altLang="zh-CN" sz="3600" b="0" i="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zh-CN" sz="3600" b="0" i="0" dirty="0">
                <a:solidFill>
                  <a:schemeClr val="tx1"/>
                </a:solidFill>
                <a:effectLst/>
                <a:latin typeface="+mn-lt"/>
              </a:rPr>
              <a:t>相位折射率工程初值 </a:t>
            </a:r>
            <a:r>
              <a:rPr lang="zh-CN" altLang="zh-CN" sz="3600" b="0" i="0" dirty="0">
                <a:solidFill>
                  <a:srgbClr val="FF0000"/>
                </a:solidFill>
                <a:effectLst/>
                <a:latin typeface="+mn-lt"/>
              </a:rPr>
              <a:t>n≈1.444</a:t>
            </a:r>
            <a:r>
              <a:rPr lang="zh-CN" altLang="zh-CN" sz="3600" b="0" i="0" dirty="0">
                <a:solidFill>
                  <a:schemeClr val="tx1"/>
                </a:solidFill>
                <a:effectLst/>
                <a:latin typeface="+mn-lt"/>
              </a:rPr>
              <a:t>、</a:t>
            </a:r>
            <a:endParaRPr lang="en-US" altLang="zh-CN" sz="3600" b="0" i="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zh-CN" sz="3600" b="0" i="0" dirty="0">
                <a:solidFill>
                  <a:schemeClr val="tx1"/>
                </a:solidFill>
                <a:effectLst/>
                <a:latin typeface="+mn-lt"/>
              </a:rPr>
              <a:t>群折射率工程初值 n_g≈1.463</a:t>
            </a:r>
            <a:endParaRPr lang="zh-CN" altLang="en-US" sz="3600" dirty="0"/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559C89E5-D136-8DA9-37E7-4C805BA4B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344849"/>
              </p:ext>
            </p:extLst>
          </p:nvPr>
        </p:nvGraphicFramePr>
        <p:xfrm>
          <a:off x="846666" y="5266266"/>
          <a:ext cx="5401734" cy="18893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9401">
                  <a:extLst>
                    <a:ext uri="{9D8B030D-6E8A-4147-A177-3AD203B41FA5}">
                      <a16:colId xmlns:a16="http://schemas.microsoft.com/office/drawing/2014/main" val="3234626237"/>
                    </a:ext>
                  </a:extLst>
                </a:gridCol>
                <a:gridCol w="3892333">
                  <a:extLst>
                    <a:ext uri="{9D8B030D-6E8A-4147-A177-3AD203B41FA5}">
                      <a16:colId xmlns:a16="http://schemas.microsoft.com/office/drawing/2014/main" val="1848059771"/>
                    </a:ext>
                  </a:extLst>
                </a:gridCol>
              </a:tblGrid>
              <a:tr h="948268">
                <a:tc>
                  <a:txBody>
                    <a:bodyPr/>
                    <a:lstStyle/>
                    <a:p>
                      <a:pPr marL="0" algn="l" defTabSz="1439997" rtl="0" eaLnBrk="1" latinLnBrk="0" hangingPunct="1"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D300</a:t>
                      </a:r>
                      <a:endParaRPr lang="zh-CN" altLang="en-US" sz="3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algn="l" defTabSz="1439997" rtl="0" eaLnBrk="1" latinLnBrk="0" hangingPunct="1">
                        <a:spcAft>
                          <a:spcPts val="1200"/>
                        </a:spcAft>
                        <a:buNone/>
                      </a:pPr>
                      <a:r>
                        <a:rPr lang="zh-CN" altLang="en-US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≈ </a:t>
                      </a:r>
                      <a:r>
                        <a:rPr lang="en-US" altLang="zh-CN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¥7500 / </a:t>
                      </a:r>
                      <a:r>
                        <a:rPr lang="zh-CN" altLang="en-US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片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66296364"/>
                  </a:ext>
                </a:extLst>
              </a:tr>
              <a:tr h="941106">
                <a:tc>
                  <a:txBody>
                    <a:bodyPr/>
                    <a:lstStyle/>
                    <a:p>
                      <a:pPr marL="0" algn="l" defTabSz="1439997" rtl="0" eaLnBrk="1" latinLnBrk="0" hangingPunct="1">
                        <a:spcAft>
                          <a:spcPts val="1200"/>
                        </a:spcAft>
                        <a:buNone/>
                      </a:pPr>
                      <a:r>
                        <a:rPr lang="en-US" altLang="zh-CN" sz="3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D100</a:t>
                      </a:r>
                      <a:endParaRPr lang="zh-CN" altLang="en-US" sz="3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algn="l" defTabSz="1439997" rtl="0" eaLnBrk="1" latinLnBrk="0" hangingPunct="1">
                        <a:spcAft>
                          <a:spcPts val="1200"/>
                        </a:spcAft>
                        <a:buNone/>
                      </a:pPr>
                      <a:r>
                        <a:rPr lang="zh-CN" altLang="en-US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≈ </a:t>
                      </a:r>
                      <a:r>
                        <a:rPr lang="en-US" altLang="zh-CN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¥1250 / </a:t>
                      </a:r>
                      <a:r>
                        <a:rPr lang="zh-CN" altLang="en-US" sz="3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片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15725136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8F73F8A5-3565-7F70-7962-5A0521F6FF06}"/>
              </a:ext>
            </a:extLst>
          </p:cNvPr>
          <p:cNvSpPr txBox="1"/>
          <p:nvPr/>
        </p:nvSpPr>
        <p:spPr>
          <a:xfrm>
            <a:off x="853548" y="3129634"/>
            <a:ext cx="527631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3600" b="0" i="0" dirty="0">
              <a:solidFill>
                <a:schemeClr val="tx1"/>
              </a:solidFill>
              <a:effectLst/>
              <a:latin typeface="+mn-lt"/>
            </a:endParaRPr>
          </a:p>
          <a:p>
            <a:pPr defTabSz="1439997">
              <a:spcBef>
                <a:spcPct val="0"/>
              </a:spcBef>
            </a:pPr>
            <a:r>
              <a:rPr lang="zh-CN" altLang="en-US" sz="3200" dirty="0">
                <a:latin typeface="+mn-ea"/>
                <a:cs typeface="+mj-cs"/>
              </a:rPr>
              <a:t>厚度</a:t>
            </a:r>
            <a:r>
              <a:rPr lang="en-US" altLang="zh-CN" sz="3200" dirty="0">
                <a:latin typeface="+mn-ea"/>
                <a:cs typeface="+mj-cs"/>
              </a:rPr>
              <a:t>0.5mm</a:t>
            </a:r>
          </a:p>
          <a:p>
            <a:pPr defTabSz="1439997">
              <a:spcBef>
                <a:spcPct val="0"/>
              </a:spcBef>
            </a:pPr>
            <a:r>
              <a:rPr lang="zh-CN" altLang="zh-CN" sz="3200" dirty="0">
                <a:latin typeface="+mn-ea"/>
                <a:cs typeface="+mj-cs"/>
              </a:rPr>
              <a:t>"数量太少，加工成本贵"</a:t>
            </a:r>
            <a:endParaRPr lang="zh-CN" altLang="en-US" sz="3200" dirty="0">
              <a:latin typeface="+mn-ea"/>
              <a:cs typeface="+mj-cs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3C3B98B-AC11-FC39-799E-D76770B99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63" y="7463230"/>
            <a:ext cx="13087037" cy="3133333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9039EE2-353D-4A33-3F90-BF243FDA403B}"/>
              </a:ext>
            </a:extLst>
          </p:cNvPr>
          <p:cNvSpPr/>
          <p:nvPr/>
        </p:nvSpPr>
        <p:spPr>
          <a:xfrm>
            <a:off x="4301067" y="8636000"/>
            <a:ext cx="829733" cy="38946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472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25AD9-E31D-CAC2-EE32-8A17860F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51DD8-7716-3728-075C-D18AB637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  <a:ea typeface="+mn-ea"/>
              </a:rPr>
              <a:t>不同材料的分析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B77DF59-B482-ED0B-4682-0777AAC79A60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AC581545-71B0-874B-EF45-3AF134B09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53" y="868579"/>
            <a:ext cx="7521074" cy="2970752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EE71B4DF-3A05-C757-9F7E-0882ADC2A046}"/>
              </a:ext>
            </a:extLst>
          </p:cNvPr>
          <p:cNvGrpSpPr/>
          <p:nvPr/>
        </p:nvGrpSpPr>
        <p:grpSpPr>
          <a:xfrm>
            <a:off x="2791327" y="1620252"/>
            <a:ext cx="994610" cy="2117559"/>
            <a:chOff x="5309937" y="2229853"/>
            <a:chExt cx="1708484" cy="308008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704ABF2-185F-7B92-6B7F-DAA31BA5AD06}"/>
                </a:ext>
              </a:extLst>
            </p:cNvPr>
            <p:cNvSpPr/>
            <p:nvPr/>
          </p:nvSpPr>
          <p:spPr>
            <a:xfrm>
              <a:off x="5309937" y="2229853"/>
              <a:ext cx="1684421" cy="5293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A0BB878-3D28-A4F9-C063-D85F5502735B}"/>
                </a:ext>
              </a:extLst>
            </p:cNvPr>
            <p:cNvSpPr/>
            <p:nvPr/>
          </p:nvSpPr>
          <p:spPr>
            <a:xfrm>
              <a:off x="5694947" y="3072063"/>
              <a:ext cx="1323474" cy="5293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4938998-7A19-AFA4-AE9D-D91AA5C406CB}"/>
                </a:ext>
              </a:extLst>
            </p:cNvPr>
            <p:cNvSpPr/>
            <p:nvPr/>
          </p:nvSpPr>
          <p:spPr>
            <a:xfrm>
              <a:off x="6047873" y="3914273"/>
              <a:ext cx="962527" cy="5293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CECCA8D-9D6C-34A1-F4E6-CAC9A8CD0625}"/>
                </a:ext>
              </a:extLst>
            </p:cNvPr>
            <p:cNvSpPr/>
            <p:nvPr/>
          </p:nvSpPr>
          <p:spPr>
            <a:xfrm>
              <a:off x="5422232" y="4780547"/>
              <a:ext cx="1556083" cy="5293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06CEEDCE-0A9B-7F0D-96F5-7F3C5B400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2" y="3884505"/>
            <a:ext cx="14347961" cy="222753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8307C79-2597-D562-E3E7-75844FE3C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20" y="6183262"/>
            <a:ext cx="4372367" cy="429565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783D8A4-2956-3F44-1B1A-4602C5F071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969" y="7195341"/>
            <a:ext cx="4801058" cy="342453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A96E0C5-0930-0886-7A43-49A28844B30E}"/>
              </a:ext>
            </a:extLst>
          </p:cNvPr>
          <p:cNvSpPr txBox="1"/>
          <p:nvPr/>
        </p:nvSpPr>
        <p:spPr>
          <a:xfrm>
            <a:off x="9613232" y="7300573"/>
            <a:ext cx="455194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高折射率材料可以实现焦距的缩短，</a:t>
            </a:r>
            <a:endParaRPr lang="en-US" altLang="zh-CN" sz="2800" dirty="0"/>
          </a:p>
          <a:p>
            <a:r>
              <a:rPr lang="zh-CN" altLang="en-US" sz="2800" dirty="0"/>
              <a:t>但对于中等焦距和数值孔径(&lt;0.6)，由折射率在1.2至3.43之间的材料所设计的超透镜其焦斑尺寸和聚焦效率没有明显差异。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3DBF20-5B2D-B405-C4AF-C4D9B096DB3A}"/>
              </a:ext>
            </a:extLst>
          </p:cNvPr>
          <p:cNvSpPr txBox="1"/>
          <p:nvPr/>
        </p:nvSpPr>
        <p:spPr>
          <a:xfrm>
            <a:off x="10058399" y="1732548"/>
            <a:ext cx="3481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波长大于</a:t>
            </a:r>
            <a:r>
              <a:rPr lang="en-US" altLang="zh-CN" sz="2400" dirty="0"/>
              <a:t>900nm</a:t>
            </a:r>
            <a:r>
              <a:rPr lang="zh-CN" altLang="en-US" sz="2400" dirty="0"/>
              <a:t>损耗低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D537F21-A4FD-3108-AF7A-F39F9F67A5F6}"/>
              </a:ext>
            </a:extLst>
          </p:cNvPr>
          <p:cNvSpPr txBox="1"/>
          <p:nvPr/>
        </p:nvSpPr>
        <p:spPr>
          <a:xfrm>
            <a:off x="6003758" y="6085655"/>
            <a:ext cx="83964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趋势说明折射率越低，通常需要更高或更大的结构才能获得足够的相位变化。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3ADF354-87D4-2D45-D74E-7F2015C87D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2076" y="786065"/>
            <a:ext cx="2532441" cy="81582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3ADB614-1ABD-FDF6-BE8A-1044407803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6378" y="1491916"/>
            <a:ext cx="1666700" cy="78948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24121B1-E892-14D3-CEBD-7DB5303369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3815" y="2101515"/>
            <a:ext cx="1251826" cy="50073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B2012D71-4CE7-B04B-916E-62D3D1E5EE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0018" y="2569230"/>
            <a:ext cx="1314194" cy="574959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86047718-6FC9-5AA9-4A2E-21A178BF97FA}"/>
              </a:ext>
            </a:extLst>
          </p:cNvPr>
          <p:cNvSpPr txBox="1"/>
          <p:nvPr/>
        </p:nvSpPr>
        <p:spPr>
          <a:xfrm>
            <a:off x="168442" y="10338098"/>
            <a:ext cx="7331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T1.  </a:t>
            </a:r>
            <a:r>
              <a:rPr lang="zh-CN" altLang="en-US" sz="2400" dirty="0"/>
              <a:t>2019 · Applied Optics 58(6), 1460–1466</a:t>
            </a:r>
          </a:p>
        </p:txBody>
      </p:sp>
    </p:spTree>
    <p:extLst>
      <p:ext uri="{BB962C8B-B14F-4D97-AF65-F5344CB8AC3E}">
        <p14:creationId xmlns:p14="http://schemas.microsoft.com/office/powerpoint/2010/main" val="924310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A94B5-1E9F-08D4-2648-EF0BF21D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EDFA5-672D-F422-DD84-3438BF41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Si</a:t>
            </a:r>
            <a:r>
              <a:rPr lang="zh-CN" altLang="en-US" sz="3200" dirty="0">
                <a:latin typeface="+mn-ea"/>
                <a:ea typeface="+mn-ea"/>
              </a:rPr>
              <a:t>的加工要点（减法）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8500696-68BF-E167-2D87-3A4B59C4C003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826C88CD-BB09-AFFA-4830-90E02847F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9" y="1879113"/>
            <a:ext cx="7482516" cy="522754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5C53288-5ADC-DEE3-6D57-7E7F301A1E18}"/>
              </a:ext>
            </a:extLst>
          </p:cNvPr>
          <p:cNvSpPr txBox="1"/>
          <p:nvPr/>
        </p:nvSpPr>
        <p:spPr>
          <a:xfrm>
            <a:off x="1261534" y="7461711"/>
            <a:ext cx="12573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Si（a-Si:H）加工流程：Silica 衬底 → PECVD a-Si:H → 旋涂正胶 → EBL → 镀铝 </a:t>
            </a:r>
            <a:r>
              <a:rPr lang="en-US" altLang="zh-CN" sz="3200" dirty="0"/>
              <a:t>(</a:t>
            </a:r>
            <a:r>
              <a:rPr lang="zh-CN" altLang="en-US" sz="3200" dirty="0">
                <a:solidFill>
                  <a:srgbClr val="FF0000"/>
                </a:solidFill>
              </a:rPr>
              <a:t>硬掩模</a:t>
            </a:r>
            <a:r>
              <a:rPr lang="en-US" altLang="zh-CN" sz="3200" dirty="0"/>
              <a:t>)</a:t>
            </a:r>
            <a:r>
              <a:rPr lang="zh-CN" altLang="en-US" sz="3200" dirty="0"/>
              <a:t>→ lift-off → 刻蚀（氟基 </a:t>
            </a:r>
            <a:r>
              <a:rPr lang="en-US" altLang="zh-CN" sz="3200" dirty="0"/>
              <a:t>ICP-RIE</a:t>
            </a:r>
            <a:r>
              <a:rPr lang="zh-CN" altLang="en-US" sz="3200" dirty="0"/>
              <a:t> ）→ 去铝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E86A0AC-8E76-05EE-02B7-B4FB7BA81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91" y="9967670"/>
            <a:ext cx="6523609" cy="69585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6BD557F-47EC-E89E-A2E9-80D77005020A}"/>
              </a:ext>
            </a:extLst>
          </p:cNvPr>
          <p:cNvSpPr txBox="1"/>
          <p:nvPr/>
        </p:nvSpPr>
        <p:spPr>
          <a:xfrm>
            <a:off x="693822" y="9260686"/>
            <a:ext cx="72911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硬掩模：铝、氧化铝、铬、氧化硅等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F481E09-2B4A-9A9B-E483-1EC2F9F799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745" y="2594336"/>
            <a:ext cx="7154881" cy="406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80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2D0F1-A2A4-DC57-AB57-E25600FF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17B17-2EC0-AE54-81DF-6DE4992D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TiO2</a:t>
            </a:r>
            <a:r>
              <a:rPr lang="zh-CN" altLang="en-US" sz="3200" dirty="0">
                <a:latin typeface="+mn-ea"/>
                <a:ea typeface="+mn-ea"/>
              </a:rPr>
              <a:t>的加工要点（加法）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EB85721-62B4-8E56-73DD-FA57EE7622D6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C5B23208-978B-0BEB-B7E8-B3AA5E1D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1360" b="21360"/>
          <a:stretch>
            <a:fillRect/>
          </a:stretch>
        </p:blipFill>
        <p:spPr>
          <a:xfrm>
            <a:off x="-401054" y="1203158"/>
            <a:ext cx="6481011" cy="518160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CBCBD6F-C6EC-303D-53AF-1E525C30882A}"/>
              </a:ext>
            </a:extLst>
          </p:cNvPr>
          <p:cNvSpPr txBox="1"/>
          <p:nvPr/>
        </p:nvSpPr>
        <p:spPr>
          <a:xfrm>
            <a:off x="1544051" y="6729215"/>
            <a:ext cx="118787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0" i="0" dirty="0">
                <a:solidFill>
                  <a:schemeClr val="tx1"/>
                </a:solidFill>
                <a:effectLst/>
                <a:latin typeface="+mn-lt"/>
              </a:rPr>
              <a:t>Al₂O₃(sapphire) + 键合转移的 AlGaAs/GaAs 外延层 → 旋涂 ZEP520A → EBL 图形化（</a:t>
            </a:r>
            <a:r>
              <a:rPr lang="zh-CN" altLang="zh-CN" sz="3600" b="1" i="0" dirty="0">
                <a:solidFill>
                  <a:schemeClr val="tx1"/>
                </a:solidFill>
                <a:effectLst/>
                <a:latin typeface="+mn-lt"/>
              </a:rPr>
              <a:t>反图形</a:t>
            </a:r>
            <a:r>
              <a:rPr lang="zh-CN" altLang="zh-CN" sz="3600" b="0" i="0" dirty="0">
                <a:solidFill>
                  <a:schemeClr val="tx1"/>
                </a:solidFill>
                <a:effectLst/>
                <a:latin typeface="+mn-lt"/>
              </a:rPr>
              <a:t>） → </a:t>
            </a:r>
            <a:r>
              <a:rPr lang="zh-CN" altLang="zh-CN" sz="3600" b="1" i="0" dirty="0">
                <a:solidFill>
                  <a:schemeClr val="tx1"/>
                </a:solidFill>
                <a:effectLst/>
                <a:latin typeface="+mn-lt"/>
              </a:rPr>
              <a:t>ALD 沉积 TiO₂ 填孔</a:t>
            </a:r>
            <a:r>
              <a:rPr lang="zh-CN" altLang="zh-CN" sz="3600" b="0" i="0" dirty="0">
                <a:solidFill>
                  <a:schemeClr val="tx1"/>
                </a:solidFill>
                <a:effectLst/>
                <a:latin typeface="+mn-lt"/>
              </a:rPr>
              <a:t> → </a:t>
            </a:r>
            <a:r>
              <a:rPr lang="zh-CN" altLang="zh-CN" sz="3600" b="1" i="0" dirty="0">
                <a:solidFill>
                  <a:schemeClr val="tx1"/>
                </a:solidFill>
                <a:effectLst/>
                <a:latin typeface="+mn-lt"/>
              </a:rPr>
              <a:t>回刻（etchback）</a:t>
            </a:r>
            <a:r>
              <a:rPr lang="zh-CN" altLang="zh-CN" sz="3600" b="0" i="0" dirty="0">
                <a:solidFill>
                  <a:schemeClr val="tx1"/>
                </a:solidFill>
                <a:effectLst/>
                <a:latin typeface="+mn-lt"/>
              </a:rPr>
              <a:t> → 去胶</a:t>
            </a:r>
            <a:endParaRPr lang="en-US" altLang="zh-CN" sz="3600" b="0" i="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altLang="zh-CN" sz="3600" dirty="0"/>
          </a:p>
          <a:p>
            <a:r>
              <a:rPr lang="zh-CN" altLang="en-US" sz="3600" dirty="0"/>
              <a:t>也可以用</a:t>
            </a:r>
            <a:r>
              <a:rPr lang="zh-CN" altLang="zh-CN" sz="3600" dirty="0"/>
              <a:t>磁控溅射</a:t>
            </a:r>
            <a:r>
              <a:rPr lang="zh-CN" altLang="en-US" sz="3600" dirty="0"/>
              <a:t>制备</a:t>
            </a:r>
            <a:r>
              <a:rPr lang="en-US" altLang="zh-CN" sz="3600" dirty="0"/>
              <a:t>TiO</a:t>
            </a:r>
            <a:r>
              <a:rPr lang="en-US" altLang="zh-CN" sz="3600" baseline="-25000" dirty="0"/>
              <a:t>2</a:t>
            </a:r>
            <a:r>
              <a:rPr lang="zh-CN" altLang="en-US" sz="3600" dirty="0"/>
              <a:t>薄膜</a:t>
            </a:r>
            <a:endParaRPr lang="zh-CN" altLang="en-US" sz="3600" baseline="-25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11B4E8-AB76-530E-3829-4FCC9DE41E7F}"/>
              </a:ext>
            </a:extLst>
          </p:cNvPr>
          <p:cNvSpPr txBox="1"/>
          <p:nvPr/>
        </p:nvSpPr>
        <p:spPr>
          <a:xfrm>
            <a:off x="279400" y="10043068"/>
            <a:ext cx="91693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T6 Fathi et al., Nature Nanotechnology（2026 在线）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0721670-320F-22A4-F490-C5B5570C6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975" y="2643600"/>
            <a:ext cx="7895238" cy="3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70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A5B83-B40D-BFFD-C8C8-7E799D3C6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2435D-A79B-F05F-A0AA-DEFE954E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+mn-ea"/>
                <a:ea typeface="+mn-ea"/>
              </a:rPr>
              <a:t>SiN</a:t>
            </a:r>
            <a:r>
              <a:rPr lang="zh-CN" altLang="en-US" sz="3200" dirty="0">
                <a:latin typeface="+mn-ea"/>
                <a:ea typeface="+mn-ea"/>
              </a:rPr>
              <a:t>和</a:t>
            </a:r>
            <a:r>
              <a:rPr lang="en-US" altLang="zh-CN" sz="3200" dirty="0">
                <a:latin typeface="+mn-ea"/>
                <a:ea typeface="+mn-ea"/>
              </a:rPr>
              <a:t>PMMA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E9F466F-D74B-FEBF-2330-DE88B16C5D56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0A2AE4A-BF91-2DA3-994E-FFC98A0CE49F}"/>
              </a:ext>
            </a:extLst>
          </p:cNvPr>
          <p:cNvSpPr txBox="1"/>
          <p:nvPr/>
        </p:nvSpPr>
        <p:spPr>
          <a:xfrm>
            <a:off x="553007" y="4284575"/>
            <a:ext cx="127138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i="0" dirty="0">
                <a:solidFill>
                  <a:schemeClr val="tx1"/>
                </a:solidFill>
                <a:effectLst/>
                <a:latin typeface="+mn-lt"/>
              </a:rPr>
              <a:t>PECVD 160 nm Si₃N₄</a:t>
            </a:r>
            <a:r>
              <a:rPr lang="zh-CN" altLang="zh-CN" sz="2800" b="0" i="0" dirty="0">
                <a:solidFill>
                  <a:schemeClr val="tx1"/>
                </a:solidFill>
                <a:effectLst/>
                <a:latin typeface="+mn-lt"/>
              </a:rPr>
              <a:t>（Oxford Plasma Pro 100，300 °C）→ ZEP520 正胶 → EBL（JEOL 9500，</a:t>
            </a:r>
            <a:r>
              <a:rPr lang="zh-CN" altLang="zh-CN" sz="2800" b="1" i="0" dirty="0">
                <a:solidFill>
                  <a:schemeClr val="tx1"/>
                </a:solidFill>
                <a:effectLst/>
                <a:latin typeface="+mn-lt"/>
              </a:rPr>
              <a:t>100 kV</a:t>
            </a:r>
            <a:r>
              <a:rPr lang="zh-CN" altLang="zh-CN" sz="2800" b="0" i="0" dirty="0">
                <a:solidFill>
                  <a:schemeClr val="tx1"/>
                </a:solidFill>
                <a:effectLst/>
                <a:latin typeface="+mn-lt"/>
              </a:rPr>
              <a:t>）→ </a:t>
            </a:r>
            <a:r>
              <a:rPr lang="zh-CN" altLang="zh-CN" sz="2800" b="1" i="0" dirty="0">
                <a:solidFill>
                  <a:schemeClr val="tx1"/>
                </a:solidFill>
                <a:effectLst/>
                <a:latin typeface="+mn-lt"/>
              </a:rPr>
              <a:t>RIE CHF₃/SF₆/N₂</a:t>
            </a:r>
            <a:r>
              <a:rPr lang="zh-CN" altLang="zh-CN" sz="2800" b="0" i="0" dirty="0">
                <a:solidFill>
                  <a:schemeClr val="tx1"/>
                </a:solidFill>
                <a:effectLst/>
                <a:latin typeface="+mn-lt"/>
              </a:rPr>
              <a:t> 刻穿 160 nm → </a:t>
            </a:r>
            <a:r>
              <a:rPr lang="zh-CN" altLang="zh-CN" sz="2800" b="1" i="0" dirty="0">
                <a:solidFill>
                  <a:schemeClr val="tx1"/>
                </a:solidFill>
                <a:effectLst/>
                <a:latin typeface="+mn-lt"/>
              </a:rPr>
              <a:t>O₂ descum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A0DB73-74D6-C8F7-599F-3C2371823EFA}"/>
              </a:ext>
            </a:extLst>
          </p:cNvPr>
          <p:cNvSpPr txBox="1"/>
          <p:nvPr/>
        </p:nvSpPr>
        <p:spPr>
          <a:xfrm>
            <a:off x="626088" y="8835540"/>
            <a:ext cx="116942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PECVD 300 nm Si₃N₄ → 300 nm PMMA（180 °C）→ EBL（100 keV、1 nA、750 µC/cm²）→ 3:1 IPA:水显影；PMMA 保留为最终结构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6C6EDE-CD10-F042-6E63-1E0AA3BFF492}"/>
              </a:ext>
            </a:extLst>
          </p:cNvPr>
          <p:cNvSpPr txBox="1"/>
          <p:nvPr/>
        </p:nvSpPr>
        <p:spPr>
          <a:xfrm>
            <a:off x="693821" y="3655458"/>
            <a:ext cx="7291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F-02 Tian 2025，</a:t>
            </a:r>
            <a:r>
              <a:rPr lang="zh-CN" altLang="zh-CN" sz="1800" b="0" i="1" dirty="0">
                <a:solidFill>
                  <a:schemeClr val="tx1"/>
                </a:solidFill>
                <a:effectLst/>
                <a:latin typeface="+mn-lt"/>
              </a:rPr>
              <a:t>Light Sci. Appl.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 14, 94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4C38A7-31AC-A985-ECB4-FA614ED346A6}"/>
              </a:ext>
            </a:extLst>
          </p:cNvPr>
          <p:cNvSpPr txBox="1"/>
          <p:nvPr/>
        </p:nvSpPr>
        <p:spPr>
          <a:xfrm>
            <a:off x="854242" y="8277544"/>
            <a:ext cx="7291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L01 Huang 2023，Nat. Nanotechnol. 18, 580–588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A97A145-867B-F858-164B-C3B056A4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312" y="968703"/>
            <a:ext cx="5285714" cy="324761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6AF4100-14E0-BB4A-BF20-E915CC24E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268" y="5529581"/>
            <a:ext cx="4000332" cy="314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51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422E4-B062-86E0-0379-FC728C938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3A8DB-0C27-F3F0-4504-83770D955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SOI</a:t>
            </a:r>
            <a:r>
              <a:rPr lang="zh-CN" altLang="en-US" sz="3200" dirty="0">
                <a:latin typeface="+mn-ea"/>
                <a:ea typeface="+mn-ea"/>
              </a:rPr>
              <a:t>与</a:t>
            </a:r>
            <a:r>
              <a:rPr lang="en-US" altLang="zh-CN" sz="3200" dirty="0" err="1">
                <a:latin typeface="+mn-ea"/>
                <a:ea typeface="+mn-ea"/>
              </a:rPr>
              <a:t>SiOG</a:t>
            </a:r>
            <a:r>
              <a:rPr lang="zh-CN" altLang="en-US" sz="3200" dirty="0">
                <a:latin typeface="+mn-ea"/>
                <a:ea typeface="+mn-ea"/>
              </a:rPr>
              <a:t>（除此之外还有</a:t>
            </a:r>
            <a:r>
              <a:rPr lang="en-US" altLang="zh-CN" sz="3200" dirty="0">
                <a:latin typeface="+mn-ea"/>
                <a:ea typeface="+mn-ea"/>
              </a:rPr>
              <a:t>SOS</a:t>
            </a:r>
            <a:r>
              <a:rPr lang="zh-CN" altLang="en-US" sz="3200" dirty="0">
                <a:latin typeface="+mn-ea"/>
                <a:ea typeface="+mn-ea"/>
              </a:rPr>
              <a:t>）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E8F85C9-714E-96CC-0CBD-069BADCF969F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E7A25E10-B15A-6F62-79E5-2DEF132CC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83" y="955469"/>
            <a:ext cx="11862533" cy="591055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2C0B402-58A8-BACC-916A-0B4782ADB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81" y="7363961"/>
            <a:ext cx="10095238" cy="280952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E9BA25-7464-1F1C-E629-34E9F0584B2D}"/>
              </a:ext>
            </a:extLst>
          </p:cNvPr>
          <p:cNvSpPr txBox="1"/>
          <p:nvPr/>
        </p:nvSpPr>
        <p:spPr>
          <a:xfrm>
            <a:off x="10287001" y="7396825"/>
            <a:ext cx="38781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5"/>
              </a:rPr>
              <a:t>https://www.soitec.com/home/technology/innovation/smart-cut?f_link_type=f_linkinlinenote&amp;flow_extra=eyJkb2NfcG9zaXRpb24iOjAsImRvY19pZCI6IjgwYmVmMzlkYzQ3NmFiMzMtZTQ2MjE0MzAyZTNhMmVkNiIsImlubGluZV9kaXNwbGF5X3Bvc2l0aW9uIjowfQ%3D%3D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1707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45B4-68C3-73C4-9CB0-31805EA30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BDA51-A3A1-67A3-0844-BD044DBA7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Si</a:t>
            </a:r>
            <a:r>
              <a:rPr lang="zh-CN" altLang="en-US" sz="3200" dirty="0">
                <a:latin typeface="+mn-ea"/>
                <a:ea typeface="+mn-ea"/>
              </a:rPr>
              <a:t>的双光子吸收效应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DBEDBA3-72CE-C64C-78B9-A06FC13A88B3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5BF9511-7A2F-E737-555A-F79A82776376}"/>
              </a:ext>
            </a:extLst>
          </p:cNvPr>
          <p:cNvSpPr txBox="1"/>
          <p:nvPr/>
        </p:nvSpPr>
        <p:spPr>
          <a:xfrm>
            <a:off x="998621" y="1439324"/>
            <a:ext cx="124927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双光子吸收（Two-Photon Absorption, TPA）是一种特殊的光学现象，指物质在高强度激光的作用下，同时吸收两个光子的能量，从而从基态跃迁至激发态。</a:t>
            </a:r>
            <a:endParaRPr lang="en-US" altLang="zh-CN" sz="2800" dirty="0"/>
          </a:p>
          <a:p>
            <a:r>
              <a:rPr lang="zh-CN" altLang="en-US" sz="2800" dirty="0"/>
              <a:t>双光子吸收属于非线性光学效应，其发生的概率与光强的平方成正比。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D024D0F-1A02-3F93-9CB1-8B0C3B0E9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930" y="2945470"/>
            <a:ext cx="7441204" cy="586164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58201FC-FF2F-7E07-A8D1-51ED842AC7D7}"/>
              </a:ext>
            </a:extLst>
          </p:cNvPr>
          <p:cNvSpPr txBox="1"/>
          <p:nvPr/>
        </p:nvSpPr>
        <p:spPr>
          <a:xfrm>
            <a:off x="1776663" y="9388189"/>
            <a:ext cx="124927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在</a:t>
            </a:r>
            <a:r>
              <a:rPr lang="en-US" altLang="zh-CN" sz="2800" dirty="0"/>
              <a:t>SOI</a:t>
            </a:r>
            <a:r>
              <a:rPr lang="zh-CN" altLang="en-US" sz="2800" dirty="0"/>
              <a:t>器件中为避免双光子吸收现象，会转而使用</a:t>
            </a:r>
            <a:r>
              <a:rPr lang="en-US" altLang="zh-CN" sz="2800" dirty="0" err="1"/>
              <a:t>SiN</a:t>
            </a:r>
            <a:r>
              <a:rPr lang="en-US" altLang="zh-CN" sz="2800" dirty="0"/>
              <a:t> on SOI </a:t>
            </a:r>
            <a:r>
              <a:rPr lang="zh-CN" altLang="en-US" sz="2800" dirty="0"/>
              <a:t>器件。</a:t>
            </a:r>
          </a:p>
        </p:txBody>
      </p:sp>
    </p:spTree>
    <p:extLst>
      <p:ext uri="{BB962C8B-B14F-4D97-AF65-F5344CB8AC3E}">
        <p14:creationId xmlns:p14="http://schemas.microsoft.com/office/powerpoint/2010/main" val="156665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77108-A7D1-6349-5ACC-945086BC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1CAF4-6268-7DAC-5FD6-21F49C766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  <a:ea typeface="+mn-ea"/>
              </a:rPr>
              <a:t>超表面硅基辐射波导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97234C3-CE2F-538D-E8D9-32DC99F8668D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220E8103-0664-22F5-C172-3F305A83B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510" y="2133600"/>
            <a:ext cx="1763804" cy="22546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7DEC761-7FA5-218D-FD0F-AA51C6E1AC3D}"/>
              </a:ext>
            </a:extLst>
          </p:cNvPr>
          <p:cNvSpPr txBox="1"/>
          <p:nvPr/>
        </p:nvSpPr>
        <p:spPr>
          <a:xfrm>
            <a:off x="1054768" y="1206716"/>
            <a:ext cx="124927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类似 </a:t>
            </a:r>
            <a:r>
              <a:rPr lang="zh-CN" altLang="zh-CN" dirty="0"/>
              <a:t>Science Advances, 6, eabb4142 (2020)</a:t>
            </a:r>
            <a:endParaRPr lang="zh-CN" altLang="en-US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2E9870-1396-8DF7-3589-F40D0BEAD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295" y="2459728"/>
            <a:ext cx="7434026" cy="2064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83928B2-69E7-CB57-BA4C-3FCAD473A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964" y="5823284"/>
            <a:ext cx="4708687" cy="431989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C787D35-33AD-1109-74CE-55CF0225F025}"/>
              </a:ext>
            </a:extLst>
          </p:cNvPr>
          <p:cNvSpPr txBox="1"/>
          <p:nvPr/>
        </p:nvSpPr>
        <p:spPr>
          <a:xfrm>
            <a:off x="1046748" y="5002995"/>
            <a:ext cx="7291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Sci. Rep. 15, 19964 (2025)（伊朗 University of Tabriz）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4A0B4E5-BF66-2978-A582-BC43CBAA20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0147" y="6176056"/>
            <a:ext cx="7448287" cy="391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47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D39F-5AD6-C5F3-1704-58D2FA87A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E587B-4644-0DE4-3E43-A0A74046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  <a:ea typeface="+mn-ea"/>
              </a:rPr>
              <a:t>下一步项目计划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4B60A01-462E-FC2C-7461-C6A36D1054AB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4BE6AB-4F67-C224-CAAB-37625A11D9F0}"/>
              </a:ext>
            </a:extLst>
          </p:cNvPr>
          <p:cNvSpPr txBox="1"/>
          <p:nvPr/>
        </p:nvSpPr>
        <p:spPr>
          <a:xfrm>
            <a:off x="525379" y="1186031"/>
            <a:ext cx="129963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选定选购玻璃的大小、尺寸；</a:t>
            </a:r>
            <a:endParaRPr lang="en-US" altLang="zh-CN" sz="2800" dirty="0"/>
          </a:p>
          <a:p>
            <a:r>
              <a:rPr lang="zh-CN" altLang="en-US" sz="2800" dirty="0"/>
              <a:t>询问</a:t>
            </a:r>
            <a:r>
              <a:rPr lang="en-US" altLang="zh-CN" sz="2800" dirty="0"/>
              <a:t>AEMD</a:t>
            </a:r>
            <a:r>
              <a:rPr lang="zh-CN" altLang="en-US" sz="2800" dirty="0"/>
              <a:t>是否能做a-Si:H </a:t>
            </a:r>
            <a:r>
              <a:rPr lang="en-US" altLang="zh-CN" sz="2800" dirty="0"/>
              <a:t>PECVD</a:t>
            </a:r>
            <a:r>
              <a:rPr lang="zh-CN" altLang="en-US" sz="2800" dirty="0"/>
              <a:t>沉积到</a:t>
            </a:r>
            <a:r>
              <a:rPr lang="en-US" altLang="zh-CN" sz="2800" dirty="0"/>
              <a:t>SiO2;</a:t>
            </a:r>
          </a:p>
          <a:p>
            <a:r>
              <a:rPr lang="zh-CN" altLang="en-US" sz="2800" dirty="0"/>
              <a:t>确定第一款试加工的波导结构和大小；</a:t>
            </a:r>
            <a:endParaRPr lang="en-US" altLang="zh-CN" sz="2800" dirty="0"/>
          </a:p>
          <a:p>
            <a:r>
              <a:rPr lang="zh-CN" altLang="en-US" sz="2800" dirty="0"/>
              <a:t>确定选用光栅耦合还是端面耦合；</a:t>
            </a:r>
            <a:endParaRPr lang="en-US" altLang="zh-CN" sz="2800" dirty="0"/>
          </a:p>
          <a:p>
            <a:r>
              <a:rPr lang="zh-CN" altLang="en-US" sz="2800" dirty="0"/>
              <a:t>明确波导加工最后一步如何将衬底进行解理；</a:t>
            </a:r>
            <a:r>
              <a:rPr lang="en-US" altLang="zh-CN" sz="2800" dirty="0"/>
              <a:t>·······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项目后续实时在线更新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9974235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F58E6054F5A4E44A8CB71611E90AD7E870972AD8981759B36AA6A6041DE2B714" val="[{&quot;GradientColorId&quot;:&quot;&quot;,&quot;IsFree&quot;:true,&quot;IsGradient&quot;:false,&quot;ImagePath&quot;:&quot;&quot;,&quot;GradientColor&quot;:null,&quot;SimpleColor&quot;:&quot;#FF0000&quot;}]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20260529_模式选择拓扑边界态激光_张冠捷</Template>
  <TotalTime>4331</TotalTime>
  <Words>1423</Words>
  <Application>Microsoft Office PowerPoint</Application>
  <PresentationFormat>自定义</PresentationFormat>
  <Paragraphs>66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FZShuSong-Z01</vt:lpstr>
      <vt:lpstr>等线</vt:lpstr>
      <vt:lpstr>Arial</vt:lpstr>
      <vt:lpstr>Calibri</vt:lpstr>
      <vt:lpstr>Calibri Light</vt:lpstr>
      <vt:lpstr>Office 主题​​</vt:lpstr>
      <vt:lpstr> 超表面材料分析 以及加工路径选择 </vt:lpstr>
      <vt:lpstr>康宁玻璃的咨询</vt:lpstr>
      <vt:lpstr>不同材料的分析</vt:lpstr>
      <vt:lpstr>Si的加工要点（减法）</vt:lpstr>
      <vt:lpstr>TiO2的加工要点（加法）</vt:lpstr>
      <vt:lpstr>SiN和PMMA</vt:lpstr>
      <vt:lpstr>SOI与SiOG（除此之外还有SOS）</vt:lpstr>
      <vt:lpstr>Si的双光子吸收效应</vt:lpstr>
      <vt:lpstr>超表面硅基辐射波导</vt:lpstr>
      <vt:lpstr>下一步项目计划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 Liu</dc:creator>
  <cp:lastModifiedBy>Chang Liu</cp:lastModifiedBy>
  <cp:revision>17</cp:revision>
  <dcterms:created xsi:type="dcterms:W3CDTF">2026-07-17T11:37:30Z</dcterms:created>
  <dcterms:modified xsi:type="dcterms:W3CDTF">2026-09-12T07:10:45Z</dcterms:modified>
</cp:coreProperties>
</file>