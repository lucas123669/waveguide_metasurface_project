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2"/>
  </p:notesMasterIdLst>
  <p:sldIdLst>
    <p:sldId id="256" r:id="rId2"/>
    <p:sldId id="625" r:id="rId3"/>
    <p:sldId id="629" r:id="rId4"/>
    <p:sldId id="631" r:id="rId5"/>
    <p:sldId id="630" r:id="rId6"/>
    <p:sldId id="632" r:id="rId7"/>
    <p:sldId id="634" r:id="rId8"/>
    <p:sldId id="635" r:id="rId9"/>
    <p:sldId id="636" r:id="rId10"/>
    <p:sldId id="637" r:id="rId11"/>
  </p:sldIdLst>
  <p:sldSz cx="14400213" cy="10799763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94797B8-74F8-4795-80FC-C5D51782C427}">
          <p14:sldIdLst>
            <p14:sldId id="256"/>
          </p14:sldIdLst>
        </p14:section>
        <p14:section name="背景" id="{DC40BE58-D2B4-43CF-ACC5-8345F232D7CB}">
          <p14:sldIdLst>
            <p14:sldId id="625"/>
            <p14:sldId id="629"/>
            <p14:sldId id="631"/>
          </p14:sldIdLst>
        </p14:section>
        <p14:section name="正文" id="{D0387557-F011-4D32-8F45-623DF1DA209B}">
          <p14:sldIdLst>
            <p14:sldId id="630"/>
            <p14:sldId id="632"/>
            <p14:sldId id="634"/>
            <p14:sldId id="635"/>
            <p14:sldId id="636"/>
            <p14:sldId id="637"/>
          </p14:sldIdLst>
        </p14:section>
        <p14:section name="补充材料" id="{270695B0-5E6B-49BF-B8E2-3939BC765142}">
          <p14:sldIdLst/>
        </p14:section>
        <p14:section name="其它" id="{8A2B821B-2626-44E3-A76D-21C4A4BFE9E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jzh2001@163.com" initials="g" lastIdx="5" clrIdx="0">
    <p:extLst>
      <p:ext uri="{19B8F6BF-5375-455C-9EA6-DF929625EA0E}">
        <p15:presenceInfo xmlns:p15="http://schemas.microsoft.com/office/powerpoint/2012/main" userId="da940b3adbb593a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00000"/>
    <a:srgbClr val="F14040"/>
    <a:srgbClr val="1A6FDF"/>
    <a:srgbClr val="FF0C0C"/>
    <a:srgbClr val="FFFFFF"/>
    <a:srgbClr val="FE524B"/>
    <a:srgbClr val="5C1FDE"/>
    <a:srgbClr val="5FC1CA"/>
    <a:srgbClr val="F5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9" autoAdjust="0"/>
    <p:restoredTop sz="85159" autoAdjust="0"/>
  </p:normalViewPr>
  <p:slideViewPr>
    <p:cSldViewPr snapToGrid="0">
      <p:cViewPr varScale="1">
        <p:scale>
          <a:sx n="45" d="100"/>
          <a:sy n="45" d="100"/>
        </p:scale>
        <p:origin x="1867" y="3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01:30:56.0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0 425,'1'-6,"-1"0,1 1,0-1,1 0,0 0,0 1,0-1,0 1,1-1,0 1,0 0,0 0,1 0,-1 1,1-1,1 1,-1 0,0 0,1 1,0-1,8-4,9-4,1 0,0 1,37-11,-60 22,47-15,1 2,0 3,60-6,148 1,27-4,597-54,244 73,-487 2,485-2,-1042-3,85-15,27-3,291-13,368 14,-582 23,3806-3,-4032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01:31:02.7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0,'1680'0,"-1570"5,177 32,-65-6,427-7,-305-4,-89-1,12-14,286 23,-154 40,-255-36,1-6,231 10,82-34,-56-3,79 46,-51-2,-329-40,28 1,192 31,113 52,-350-75,1-5,160-6,-127-3,1557-1,-1003 4,-657 0,1-1,0-1,0 0,-1-1,1 0,-1-1,1-1,27-11,-8-6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31T01:31:07.6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0,'9761'0,"-6410"0,-3296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89BD0-8A8E-433C-9293-8102EE62404B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52872-8605-4D31-BE76-04D90B4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8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1pPr>
    <a:lvl2pPr marL="719999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2pPr>
    <a:lvl3pPr marL="1439997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3pPr>
    <a:lvl4pPr marL="2159996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4pPr>
    <a:lvl5pPr marL="2879994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5pPr>
    <a:lvl6pPr marL="3599993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6pPr>
    <a:lvl7pPr marL="4319991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7pPr>
    <a:lvl8pPr marL="5039990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8pPr>
    <a:lvl9pPr marL="5759988" algn="l" defTabSz="1439997" rtl="0" eaLnBrk="1" latinLnBrk="0" hangingPunct="1">
      <a:defRPr sz="189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6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E75B0-56C3-D268-83FD-BBFF19299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2881CF-6E17-25C4-3F39-7543EFEB3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DE4FF4-DB7B-BD49-2080-7F69A27F1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92EA7F-3908-3757-DAB0-FCCBFEB1D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7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704F8-DD5E-5C31-69C1-D8AB064AB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DDC4EA-CC97-1CB3-7181-CD982A393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598475-6F49-678A-D00A-B6C848E5F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34E4E1-53B0-E78B-7F60-2361950F0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57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713F8-C5BC-2874-986D-F5172F859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D22757-BE80-E0C8-E464-1C4278DAB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893D36-EB5C-8644-47E8-67A513A77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7E969B-F368-8B42-8ACF-321A65378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73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CB4C7-BC35-1BE7-AFFA-EF525BFDF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9CA458-8F22-2805-5101-CD42BB83C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E10DB5-88C6-301D-0B58-622F94BA4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7108E5-0B3E-99D7-8F50-920859C38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47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2BEB8-E610-94AC-036D-9F5BBAD6D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D58AD8-36F0-B1DD-6C2F-D60145465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45F0DD-50F1-1072-8BAA-01A58DC56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415814-135B-6F9C-CF58-5C0981875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32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44025-24E9-C9B3-AE37-A5E97F1B5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B10D1D-95F7-1ABB-784B-2FA469003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5F5B05-EF87-8DD1-B235-DA790C74A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E187C1-685E-6852-89DF-4EA01FADD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76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7790-3733-F1E6-077E-A5B7C2F36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FA7E14-BE85-8F99-0767-65996B47F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770364-EB05-6F69-12D3-7A6D814AC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3663C4-F01A-8269-3CE9-CF764195B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833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7565-E19F-041F-20E4-466A9541B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902C36-A67E-9909-BC10-268642F70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C3D7A6-397E-7E12-44E5-A04A7DD34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CD294B-39FB-477D-98FB-92D0E4F82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52872-8605-4D31-BE76-04D90B46FEF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25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1767462"/>
            <a:ext cx="12240181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5672376"/>
            <a:ext cx="10800160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60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613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2692444"/>
            <a:ext cx="12420184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7227345"/>
            <a:ext cx="12420184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02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33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574990"/>
            <a:ext cx="12420184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2647443"/>
            <a:ext cx="609196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3944914"/>
            <a:ext cx="6091964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2647443"/>
            <a:ext cx="612196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3944914"/>
            <a:ext cx="6121966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32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78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56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554968"/>
            <a:ext cx="7290108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03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554968"/>
            <a:ext cx="7290108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91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6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574987"/>
            <a:ext cx="3105046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574987"/>
            <a:ext cx="9135135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ED29C-D6A0-4CF9-9E09-167CE041D3F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5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574990"/>
            <a:ext cx="12420184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874937"/>
            <a:ext cx="12420184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ED29C-D6A0-4CF9-9E09-167CE041D3F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0009783"/>
            <a:ext cx="486007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6DD7A-CF37-4535-B31C-5F7DDCA77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53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3.xml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211F17F-6787-DEEC-F487-BB4B474ED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74942" y="1517867"/>
            <a:ext cx="6430470" cy="6382302"/>
          </a:xfrm>
          <a:prstGeom prst="rect">
            <a:avLst/>
          </a:prstGeom>
        </p:spPr>
      </p:pic>
      <p:sp>
        <p:nvSpPr>
          <p:cNvPr id="3" name="副标题 2">
            <a:extLst>
              <a:ext uri="{FF2B5EF4-FFF2-40B4-BE49-F238E27FC236}">
                <a16:creationId xmlns:a16="http://schemas.microsoft.com/office/drawing/2014/main" id="{E8B83BA0-94B1-49D2-95F5-FFBA3CF5E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3178" y="6833908"/>
            <a:ext cx="10800160" cy="2018317"/>
          </a:xfrm>
        </p:spPr>
        <p:txBody>
          <a:bodyPr/>
          <a:lstStyle/>
          <a:p>
            <a:r>
              <a:rPr lang="zh-CN" altLang="en-US" dirty="0"/>
              <a:t>汇报时间</a:t>
            </a:r>
            <a:r>
              <a:rPr lang="en-US" altLang="zh-CN" dirty="0"/>
              <a:t>:2026.08.31</a:t>
            </a:r>
          </a:p>
          <a:p>
            <a:r>
              <a:rPr lang="zh-CN" altLang="en-US" dirty="0"/>
              <a:t>汇报人</a:t>
            </a:r>
            <a:r>
              <a:rPr lang="en-US" altLang="zh-CN" dirty="0"/>
              <a:t>:</a:t>
            </a:r>
            <a:r>
              <a:rPr lang="zh-CN" altLang="en-US" dirty="0"/>
              <a:t>刘畅 </a:t>
            </a:r>
            <a:endParaRPr lang="en-US" dirty="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BA211BC0-1D4C-E113-FEF5-0EAE9D57A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20838" y="2844032"/>
            <a:ext cx="13356953" cy="357826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zh-CN" altLang="en-US" sz="7200" b="1" dirty="0">
                <a:ln/>
                <a:solidFill>
                  <a:srgbClr val="111111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超表面项目汇报</a:t>
            </a:r>
            <a:br>
              <a:rPr lang="en-US" altLang="zh-CN" sz="7200" b="1" dirty="0">
                <a:ln/>
                <a:solidFill>
                  <a:srgbClr val="111111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</a:br>
            <a:r>
              <a:rPr lang="zh-CN" altLang="en-US" sz="7200" b="1" dirty="0">
                <a:ln/>
                <a:solidFill>
                  <a:srgbClr val="111111">
                    <a:alpha val="100000"/>
                  </a:srgbClr>
                </a:solidFill>
                <a:latin typeface="FZShuSong-Z01"/>
                <a:ea typeface="FZShuSong-Z01"/>
                <a:cs typeface="FZShuSong-Z01"/>
              </a:rPr>
              <a:t>微纳加工技术相关整理</a:t>
            </a:r>
            <a:br>
              <a:rPr lang="zh-CN" altLang="en-US" sz="7200" dirty="0"/>
            </a:br>
            <a:endParaRPr lang="zh-CN" altLang="en-US" sz="7200" dirty="0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1980E9CE-FFAD-8874-147A-76205EE2E115}"/>
              </a:ext>
            </a:extLst>
          </p:cNvPr>
          <p:cNvSpPr txBox="1">
            <a:spLocks/>
          </p:cNvSpPr>
          <p:nvPr/>
        </p:nvSpPr>
        <p:spPr>
          <a:xfrm>
            <a:off x="1110851" y="9790604"/>
            <a:ext cx="13062347" cy="20183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439997" rtl="0" eaLnBrk="1" latinLnBrk="0" hangingPunct="1">
              <a:lnSpc>
                <a:spcPct val="90000"/>
              </a:lnSpc>
              <a:spcBef>
                <a:spcPts val="1575"/>
              </a:spcBef>
              <a:buFont typeface="Arial" panose="020B0604020202020204" pitchFamily="34" charset="0"/>
              <a:buNone/>
              <a:defRPr sz="37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999" indent="0" algn="ctr" defTabSz="1439997" rtl="0" eaLnBrk="1" latinLnBrk="0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9997" indent="0" algn="ctr" defTabSz="1439997" rtl="0" eaLnBrk="1" latinLnBrk="0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28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59996" indent="0" algn="ctr" defTabSz="1439997" rtl="0" eaLnBrk="1" latinLnBrk="0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79994" indent="0" algn="ctr" defTabSz="1439997" rtl="0" eaLnBrk="1" latinLnBrk="0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99993" indent="0" algn="ctr" defTabSz="1439997" rtl="0" eaLnBrk="1" latinLnBrk="0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19991" indent="0" algn="ctr" defTabSz="1439997" rtl="0" eaLnBrk="1" latinLnBrk="0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39990" indent="0" algn="ctr" defTabSz="1439997" rtl="0" eaLnBrk="1" latinLnBrk="0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59988" indent="0" algn="ctr" defTabSz="1439997" rtl="0" eaLnBrk="1" latinLnBrk="0" hangingPunct="1">
              <a:lnSpc>
                <a:spcPct val="90000"/>
              </a:lnSpc>
              <a:spcBef>
                <a:spcPts val="787"/>
              </a:spcBef>
              <a:buFont typeface="Arial" panose="020B0604020202020204" pitchFamily="34" charset="0"/>
              <a:buNone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Web:https</a:t>
            </a:r>
            <a:r>
              <a:rPr lang="en-US" dirty="0"/>
              <a:t>://github.com/Lucas123669/</a:t>
            </a:r>
            <a:r>
              <a:rPr lang="en-US" dirty="0" err="1"/>
              <a:t>Waveguide_Metasurface_Project</a:t>
            </a:r>
            <a:r>
              <a:rPr lang="en-US" dirty="0"/>
              <a:t>/tree/main</a:t>
            </a:r>
          </a:p>
        </p:txBody>
      </p:sp>
    </p:spTree>
    <p:extLst>
      <p:ext uri="{BB962C8B-B14F-4D97-AF65-F5344CB8AC3E}">
        <p14:creationId xmlns:p14="http://schemas.microsoft.com/office/powerpoint/2010/main" val="4161995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03374-D895-4E56-815E-A1FBC49B2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latin typeface="+mn-ea"/>
                <a:ea typeface="+mn-ea"/>
              </a:rPr>
              <a:t>Github</a:t>
            </a:r>
            <a:r>
              <a:rPr lang="en-US" altLang="zh-CN" sz="3200" dirty="0">
                <a:latin typeface="+mn-ea"/>
                <a:ea typeface="+mn-ea"/>
              </a:rPr>
              <a:t> </a:t>
            </a:r>
            <a:r>
              <a:rPr lang="zh-CN" altLang="en-US" sz="3200" dirty="0">
                <a:latin typeface="+mn-ea"/>
                <a:ea typeface="+mn-ea"/>
              </a:rPr>
              <a:t>辅助项目管理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67E3E63-9DB4-4070-8757-B5FE6BC93144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4AFC8793-BC98-4A4E-F8DF-2F4F56070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9804"/>
            <a:ext cx="6782809" cy="72443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A5DF040-A881-93D5-3796-B697BC5F7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553" y="922356"/>
            <a:ext cx="4853181" cy="713791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C4B5D0D-D620-9656-E611-4523A0E9B1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6267" y="934647"/>
            <a:ext cx="5120746" cy="648215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6B9766B-9EAB-4ED2-D35B-71E0C0DE158A}"/>
              </a:ext>
            </a:extLst>
          </p:cNvPr>
          <p:cNvSpPr/>
          <p:nvPr/>
        </p:nvSpPr>
        <p:spPr>
          <a:xfrm>
            <a:off x="0" y="4114800"/>
            <a:ext cx="3742267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976400-F827-4886-A651-B247BD7A353A}"/>
              </a:ext>
            </a:extLst>
          </p:cNvPr>
          <p:cNvSpPr/>
          <p:nvPr/>
        </p:nvSpPr>
        <p:spPr>
          <a:xfrm>
            <a:off x="4775200" y="1710266"/>
            <a:ext cx="3742267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644D6B2E-8B97-64CB-A863-44A17F26DCC4}"/>
                  </a:ext>
                </a:extLst>
              </p14:cNvPr>
              <p14:cNvContentPartPr/>
              <p14:nvPr/>
            </p14:nvContentPartPr>
            <p14:xfrm>
              <a:off x="5096733" y="2268267"/>
              <a:ext cx="3927960" cy="15336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644D6B2E-8B97-64CB-A863-44A17F26DC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42733" y="2160267"/>
                <a:ext cx="403560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8ABC379B-437B-66C9-CF79-CA77C3B1A555}"/>
                  </a:ext>
                </a:extLst>
              </p14:cNvPr>
              <p14:cNvContentPartPr/>
              <p14:nvPr/>
            </p14:nvContentPartPr>
            <p14:xfrm>
              <a:off x="4994853" y="4301187"/>
              <a:ext cx="4057200" cy="20484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8ABC379B-437B-66C9-CF79-CA77C3B1A55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41213" y="4193187"/>
                <a:ext cx="416484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FB75E81F-4018-92E9-E30A-059595D6D81E}"/>
                  </a:ext>
                </a:extLst>
              </p14:cNvPr>
              <p14:cNvContentPartPr/>
              <p14:nvPr/>
            </p14:nvContentPartPr>
            <p14:xfrm>
              <a:off x="9583773" y="5164467"/>
              <a:ext cx="4740480" cy="36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FB75E81F-4018-92E9-E30A-059595D6D81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30133" y="5056467"/>
                <a:ext cx="484812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59006D0F-EFB1-0574-875F-4E7A886EF278}"/>
              </a:ext>
            </a:extLst>
          </p:cNvPr>
          <p:cNvSpPr txBox="1"/>
          <p:nvPr/>
        </p:nvSpPr>
        <p:spPr>
          <a:xfrm>
            <a:off x="694267" y="8817802"/>
            <a:ext cx="133773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汇报主线</a:t>
            </a:r>
          </a:p>
          <a:p>
            <a:r>
              <a:rPr lang="en-US" altLang="zh-CN" sz="3200" dirty="0"/>
              <a:t>L01 </a:t>
            </a:r>
            <a:r>
              <a:rPr lang="zh-CN" altLang="en-US" sz="3200" dirty="0"/>
              <a:t>（主论文）加工要点 → </a:t>
            </a:r>
            <a:r>
              <a:rPr lang="en-US" altLang="zh-CN" sz="3200" dirty="0"/>
              <a:t>F08 </a:t>
            </a:r>
            <a:r>
              <a:rPr lang="zh-CN" altLang="en-US" sz="3200" dirty="0"/>
              <a:t>技术体系 → </a:t>
            </a:r>
            <a:r>
              <a:rPr lang="en-US" altLang="zh-CN" sz="3200" dirty="0"/>
              <a:t>L04 PMMA </a:t>
            </a:r>
            <a:r>
              <a:rPr lang="zh-CN" altLang="en-US" sz="3200" dirty="0"/>
              <a:t>工艺 → </a:t>
            </a:r>
            <a:r>
              <a:rPr lang="en-US" altLang="zh-CN" sz="3200" dirty="0"/>
              <a:t>L03/L05 </a:t>
            </a:r>
            <a:r>
              <a:rPr lang="zh-CN" altLang="en-US" sz="3200" dirty="0"/>
              <a:t>补充 → </a:t>
            </a:r>
            <a:r>
              <a:rPr lang="en-US" altLang="zh-CN" sz="3200" dirty="0"/>
              <a:t>L02 </a:t>
            </a:r>
            <a:r>
              <a:rPr lang="zh-CN" altLang="en-US" sz="3200" dirty="0"/>
              <a:t>仿真</a:t>
            </a:r>
          </a:p>
        </p:txBody>
      </p:sp>
    </p:spTree>
    <p:extLst>
      <p:ext uri="{BB962C8B-B14F-4D97-AF65-F5344CB8AC3E}">
        <p14:creationId xmlns:p14="http://schemas.microsoft.com/office/powerpoint/2010/main" val="1088472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25AD9-E31D-CAC2-EE32-8A17860F3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51DD8-7716-3728-075C-D18AB6379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+mn-ea"/>
                <a:ea typeface="+mn-ea"/>
              </a:rPr>
              <a:t>L01</a:t>
            </a:r>
            <a:r>
              <a:rPr lang="zh-CN" altLang="en-US" sz="3200" dirty="0">
                <a:latin typeface="+mn-ea"/>
                <a:ea typeface="+mn-ea"/>
              </a:rPr>
              <a:t>的加工要点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B77DF59-B482-ED0B-4682-0777AAC79A60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848E657F-2676-24A1-C386-25F43E8C2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67" y="1556147"/>
            <a:ext cx="6301636" cy="547118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B13BA34-7F16-2414-1C01-0DBDA8FAFDB0}"/>
              </a:ext>
            </a:extLst>
          </p:cNvPr>
          <p:cNvSpPr txBox="1"/>
          <p:nvPr/>
        </p:nvSpPr>
        <p:spPr>
          <a:xfrm>
            <a:off x="6849532" y="2149100"/>
            <a:ext cx="72982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/>
              <a:t>堆叠：</a:t>
            </a:r>
            <a:r>
              <a:rPr lang="en-US" altLang="zh-CN" sz="3600" dirty="0"/>
              <a:t>PMMA 300 nm</a:t>
            </a:r>
            <a:r>
              <a:rPr lang="zh-CN" altLang="en-US" sz="3600" dirty="0"/>
              <a:t>（给出折射率）</a:t>
            </a:r>
            <a:r>
              <a:rPr lang="en-US" altLang="zh-CN" sz="3600" dirty="0"/>
              <a:t> / </a:t>
            </a:r>
            <a:r>
              <a:rPr lang="en-US" altLang="zh-CN" sz="3600" dirty="0" err="1"/>
              <a:t>Si₃N</a:t>
            </a:r>
            <a:r>
              <a:rPr lang="en-US" altLang="zh-CN" sz="3600" dirty="0"/>
              <a:t>₄ 300 nm / </a:t>
            </a:r>
            <a:r>
              <a:rPr lang="zh-CN" altLang="en-US" sz="3600" dirty="0"/>
              <a:t>石英衬底 </a:t>
            </a:r>
            <a:r>
              <a:rPr lang="en-US" altLang="zh-CN" sz="3600" dirty="0"/>
              <a:t>180 </a:t>
            </a:r>
            <a:r>
              <a:rPr lang="el-GR" altLang="zh-CN" sz="3600" dirty="0"/>
              <a:t>μ</a:t>
            </a:r>
            <a:r>
              <a:rPr lang="en-US" altLang="zh-CN" sz="3600" dirty="0"/>
              <a:t>m</a:t>
            </a:r>
          </a:p>
          <a:p>
            <a:r>
              <a:rPr lang="zh-CN" altLang="en-US" sz="3600" dirty="0"/>
              <a:t>工作波长：</a:t>
            </a:r>
            <a:r>
              <a:rPr lang="en-US" altLang="zh-CN" sz="3600" dirty="0"/>
              <a:t>1.55 </a:t>
            </a:r>
            <a:r>
              <a:rPr lang="el-GR" altLang="zh-CN" sz="3600" dirty="0"/>
              <a:t>μ</a:t>
            </a:r>
            <a:r>
              <a:rPr lang="en-US" altLang="zh-CN" sz="3600" dirty="0"/>
              <a:t>m</a:t>
            </a:r>
            <a:r>
              <a:rPr lang="zh-CN" altLang="en-US" sz="3600" dirty="0"/>
              <a:t>附近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89A011E-BCCD-AC57-8994-A6804317FD62}"/>
              </a:ext>
            </a:extLst>
          </p:cNvPr>
          <p:cNvSpPr txBox="1"/>
          <p:nvPr/>
        </p:nvSpPr>
        <p:spPr>
          <a:xfrm>
            <a:off x="6866466" y="4946133"/>
            <a:ext cx="72982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dirty="0">
                <a:solidFill>
                  <a:srgbClr val="FF0000"/>
                </a:solidFill>
              </a:rPr>
              <a:t>PMMA 这一层，既是电子束胶，又是波导的图案层。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zh-CN" sz="2800" dirty="0"/>
              <a:t>核心材料是两种：PMMA 和氮化硅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BBEB013-B294-5879-E536-2319C4E2410C}"/>
              </a:ext>
            </a:extLst>
          </p:cNvPr>
          <p:cNvSpPr txBox="1"/>
          <p:nvPr/>
        </p:nvSpPr>
        <p:spPr>
          <a:xfrm>
            <a:off x="990600" y="7818734"/>
            <a:ext cx="12935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dirty="0">
                <a:solidFill>
                  <a:srgbClr val="FF0000"/>
                </a:solidFill>
              </a:rPr>
              <a:t>清洗</a:t>
            </a:r>
            <a:r>
              <a:rPr lang="zh-CN" altLang="zh-CN" sz="3200" dirty="0"/>
              <a:t> → </a:t>
            </a:r>
            <a:r>
              <a:rPr lang="zh-CN" altLang="zh-CN" sz="3200" dirty="0">
                <a:solidFill>
                  <a:srgbClr val="FF0000"/>
                </a:solidFill>
              </a:rPr>
              <a:t>PECVD 沉积</a:t>
            </a:r>
            <a:r>
              <a:rPr lang="zh-CN" altLang="zh-CN" sz="3200" dirty="0"/>
              <a:t> 300 nm Si₃N₄ → </a:t>
            </a:r>
            <a:r>
              <a:rPr lang="zh-CN" altLang="zh-CN" sz="3200" dirty="0">
                <a:solidFill>
                  <a:srgbClr val="FF0000"/>
                </a:solidFill>
              </a:rPr>
              <a:t>旋涂</a:t>
            </a:r>
            <a:r>
              <a:rPr lang="zh-CN" altLang="zh-CN" sz="3200" dirty="0"/>
              <a:t> 300 nm PMMA（180 °C 烘烤）→ </a:t>
            </a:r>
            <a:r>
              <a:rPr lang="zh-CN" altLang="zh-CN" sz="3200" dirty="0">
                <a:solidFill>
                  <a:srgbClr val="FF0000"/>
                </a:solidFill>
              </a:rPr>
              <a:t>EBL</a:t>
            </a:r>
            <a:r>
              <a:rPr lang="zh-CN" altLang="zh-CN" sz="3200" dirty="0"/>
              <a:t>（100 keV/1 nA/750 μC/cm²，BEAMER 邻近效应校正）→ 3:1 IPA:去离子水</a:t>
            </a:r>
            <a:r>
              <a:rPr lang="zh-CN" altLang="zh-CN" sz="3200" dirty="0">
                <a:solidFill>
                  <a:srgbClr val="FF0000"/>
                </a:solidFill>
              </a:rPr>
              <a:t>显影</a:t>
            </a:r>
            <a:r>
              <a:rPr lang="zh-CN" altLang="zh-CN" sz="3200" dirty="0"/>
              <a:t> → </a:t>
            </a:r>
            <a:r>
              <a:rPr lang="zh-CN" altLang="zh-CN" sz="3200" b="1" dirty="0"/>
              <a:t>最后</a:t>
            </a:r>
            <a:r>
              <a:rPr lang="zh-CN" altLang="zh-CN" sz="3200" b="1" dirty="0">
                <a:solidFill>
                  <a:srgbClr val="FF0000"/>
                </a:solidFill>
              </a:rPr>
              <a:t>解理</a:t>
            </a:r>
            <a:r>
              <a:rPr lang="zh-CN" altLang="en-US" sz="3200" b="1" dirty="0">
                <a:solidFill>
                  <a:srgbClr val="FF0000"/>
                </a:solidFill>
              </a:rPr>
              <a:t>（</a:t>
            </a:r>
            <a:r>
              <a:rPr lang="zh-CN" altLang="zh-CN" sz="3600" dirty="0"/>
              <a:t>cleave</a:t>
            </a:r>
            <a:r>
              <a:rPr lang="zh-CN" altLang="en-US" sz="3200" b="1" dirty="0">
                <a:solidFill>
                  <a:srgbClr val="FF0000"/>
                </a:solidFill>
              </a:rPr>
              <a:t>）</a:t>
            </a:r>
            <a:r>
              <a:rPr lang="zh-CN" altLang="zh-CN" sz="3200" b="1" dirty="0"/>
              <a:t>芯片暴露窄脊波导端面</a:t>
            </a:r>
            <a:r>
              <a:rPr lang="zh-CN" altLang="zh-CN" sz="3200" dirty="0"/>
              <a:t>用于光纤耦合。</a:t>
            </a:r>
            <a:endParaRPr lang="zh-CN" altLang="en-US" sz="32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EDE83C0-4EF1-ED28-1CBD-5AB5121D5555}"/>
              </a:ext>
            </a:extLst>
          </p:cNvPr>
          <p:cNvSpPr txBox="1"/>
          <p:nvPr/>
        </p:nvSpPr>
        <p:spPr>
          <a:xfrm>
            <a:off x="1075267" y="10151575"/>
            <a:ext cx="123020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dirty="0"/>
              <a:t>Nature Nanotechnology </a:t>
            </a:r>
            <a:r>
              <a:rPr lang="zh-CN" altLang="en-US" sz="2800" dirty="0"/>
              <a:t>：</a:t>
            </a:r>
            <a:r>
              <a:rPr lang="zh-CN" altLang="zh-CN" sz="2800" b="0" i="0" dirty="0">
                <a:effectLst/>
                <a:latin typeface="+mn-lt"/>
              </a:rPr>
              <a:t>Leaky-Wave metasurfaces for integrated photonics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24310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18F42-1559-7BDB-9400-9D41F4C3C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8B909-37B7-B0F2-CFA5-DD175BD7C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+mn-ea"/>
                <a:ea typeface="+mn-ea"/>
              </a:rPr>
              <a:t>L01</a:t>
            </a:r>
            <a:r>
              <a:rPr lang="zh-CN" altLang="en-US" sz="3200" dirty="0">
                <a:latin typeface="+mn-ea"/>
                <a:ea typeface="+mn-ea"/>
              </a:rPr>
              <a:t>的加工要点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26B74C9-F6A8-1C05-FCF7-A470C1B83FD8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A039C474-BF77-33EB-7D39-C046A5D27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4949"/>
            <a:ext cx="5638800" cy="489570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D5131EBD-44CE-89E2-47DB-E81BD37343F8}"/>
              </a:ext>
            </a:extLst>
          </p:cNvPr>
          <p:cNvSpPr txBox="1"/>
          <p:nvPr/>
        </p:nvSpPr>
        <p:spPr>
          <a:xfrm>
            <a:off x="0" y="10276543"/>
            <a:ext cx="123020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dirty="0"/>
              <a:t>Nature Nanotechnology </a:t>
            </a:r>
            <a:r>
              <a:rPr lang="zh-CN" altLang="en-US" sz="2800" dirty="0"/>
              <a:t>：</a:t>
            </a:r>
            <a:r>
              <a:rPr lang="zh-CN" altLang="zh-CN" sz="2800" b="0" i="0" dirty="0">
                <a:effectLst/>
                <a:latin typeface="+mn-lt"/>
              </a:rPr>
              <a:t>Leaky-Wave metasurfaces for integrated photonics</a:t>
            </a:r>
            <a:endParaRPr lang="zh-CN" altLang="en-US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A7366D-94FB-3566-56AF-29350357AF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993"/>
          <a:stretch>
            <a:fillRect/>
          </a:stretch>
        </p:blipFill>
        <p:spPr>
          <a:xfrm>
            <a:off x="11608166" y="982794"/>
            <a:ext cx="2792047" cy="981696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04FDA95-CBA7-2AEC-8691-BFA5F9925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77" y="841861"/>
            <a:ext cx="4830239" cy="5474272"/>
          </a:xfrm>
          <a:prstGeom prst="rect">
            <a:avLst/>
          </a:prstGeom>
        </p:spPr>
      </p:pic>
      <p:sp>
        <p:nvSpPr>
          <p:cNvPr id="7" name="文本框 7">
            <a:extLst>
              <a:ext uri="{FF2B5EF4-FFF2-40B4-BE49-F238E27FC236}">
                <a16:creationId xmlns:a16="http://schemas.microsoft.com/office/drawing/2014/main" id="{22E55CAE-AF9D-8FD6-AD71-89595D958085}"/>
              </a:ext>
            </a:extLst>
          </p:cNvPr>
          <p:cNvSpPr>
            <a:spLocks noGrp="1"/>
          </p:cNvSpPr>
          <p:nvPr/>
        </p:nvSpPr>
        <p:spPr>
          <a:xfrm>
            <a:off x="1327572" y="7119111"/>
            <a:ext cx="950976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/>
              <a:t>① </a:t>
            </a:r>
            <a:r>
              <a:rPr lang="zh-CN" altLang="en-US" sz="2800" dirty="0"/>
              <a:t>甩胶</a:t>
            </a:r>
            <a:r>
              <a:rPr sz="2800" dirty="0" err="1"/>
              <a:t>层厚</a:t>
            </a:r>
            <a:r>
              <a:rPr lang="en-US" sz="2800" dirty="0"/>
              <a:t>=</a:t>
            </a:r>
            <a:r>
              <a:rPr lang="zh-CN" altLang="en-US" sz="2800" dirty="0"/>
              <a:t>沉积层厚</a:t>
            </a:r>
            <a:r>
              <a:rPr sz="2800" dirty="0"/>
              <a:t> = 孔深（300 nm）：</a:t>
            </a:r>
            <a:r>
              <a:rPr sz="2800" dirty="0" err="1"/>
              <a:t>厚度一致性</a:t>
            </a:r>
            <a:endParaRPr sz="2800" dirty="0"/>
          </a:p>
          <a:p>
            <a:r>
              <a:rPr sz="2800" dirty="0"/>
              <a:t>② </a:t>
            </a:r>
            <a:r>
              <a:rPr lang="en-US" altLang="zh-CN" sz="2800" dirty="0"/>
              <a:t>EBL </a:t>
            </a:r>
            <a:r>
              <a:rPr sz="2800" dirty="0" err="1"/>
              <a:t>剂量随</a:t>
            </a:r>
            <a:r>
              <a:rPr lang="zh-CN" altLang="en-US" sz="2800" dirty="0"/>
              <a:t>加速</a:t>
            </a:r>
            <a:r>
              <a:rPr sz="2800" dirty="0"/>
              <a:t>电压换算：100 keV 750 ↔ 20 kV 200–250 </a:t>
            </a:r>
            <a:r>
              <a:rPr sz="2800" dirty="0" err="1"/>
              <a:t>μC</a:t>
            </a:r>
            <a:r>
              <a:rPr sz="2800" dirty="0"/>
              <a:t>/cm²</a:t>
            </a:r>
            <a:r>
              <a:rPr lang="zh-CN" altLang="en-US" sz="2800" dirty="0"/>
              <a:t>（</a:t>
            </a:r>
            <a:r>
              <a:rPr lang="en-US" altLang="zh-CN" sz="2800" dirty="0" err="1"/>
              <a:t>Espacer</a:t>
            </a:r>
            <a:r>
              <a:rPr lang="zh-CN" altLang="en-US" sz="2800" dirty="0"/>
              <a:t>导电聚合物是否需要）</a:t>
            </a:r>
            <a:endParaRPr sz="2800" dirty="0"/>
          </a:p>
          <a:p>
            <a:r>
              <a:rPr sz="2800" dirty="0"/>
              <a:t>③ </a:t>
            </a:r>
            <a:r>
              <a:rPr sz="2800" dirty="0" err="1"/>
              <a:t>大面积</a:t>
            </a:r>
            <a:r>
              <a:rPr sz="2800" dirty="0"/>
              <a:t>（</a:t>
            </a:r>
            <a:r>
              <a:rPr lang="zh-CN" altLang="en-US" sz="2800" dirty="0"/>
              <a:t>线性尺寸</a:t>
            </a:r>
            <a:r>
              <a:rPr sz="2800" dirty="0"/>
              <a:t> 400 </a:t>
            </a:r>
            <a:r>
              <a:rPr sz="2800" dirty="0" err="1"/>
              <a:t>μm</a:t>
            </a:r>
            <a:r>
              <a:rPr sz="2800" dirty="0"/>
              <a:t> + 4.8 mm </a:t>
            </a:r>
            <a:r>
              <a:rPr sz="2800" dirty="0" err="1"/>
              <a:t>锥形</a:t>
            </a:r>
            <a:r>
              <a:rPr sz="2800" dirty="0"/>
              <a:t>）：</a:t>
            </a:r>
            <a:r>
              <a:rPr lang="zh-CN" altLang="en-US" sz="2800" dirty="0"/>
              <a:t>锥形渐变、</a:t>
            </a:r>
            <a:r>
              <a:rPr lang="zh-CN" altLang="zh-CN" sz="2800" dirty="0"/>
              <a:t>邻近效应校正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6975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DD79D-59A3-F606-5D14-CBA985ACD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514A1E-565E-EC9A-4D2E-827038337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+mn-ea"/>
                <a:ea typeface="+mn-ea"/>
              </a:rPr>
              <a:t>F08</a:t>
            </a:r>
            <a:r>
              <a:rPr lang="zh-CN" altLang="en-US" sz="3200" dirty="0">
                <a:latin typeface="+mn-ea"/>
                <a:ea typeface="+mn-ea"/>
              </a:rPr>
              <a:t>的微纳加工体系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ECC072F-8C40-DB5F-F207-55BD2BEC7FD1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2E59F220-173E-2B67-8903-42809D6E9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9634"/>
            <a:ext cx="9722498" cy="747570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4EDCA98-3797-EC77-FE98-8DAD206EC6A6}"/>
              </a:ext>
            </a:extLst>
          </p:cNvPr>
          <p:cNvSpPr txBox="1"/>
          <p:nvPr/>
        </p:nvSpPr>
        <p:spPr>
          <a:xfrm>
            <a:off x="1413931" y="9955368"/>
            <a:ext cx="11353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PHOTONICS INSIGHTS</a:t>
            </a:r>
            <a:r>
              <a:rPr lang="zh-CN" altLang="en-US" sz="2800" dirty="0"/>
              <a:t>：Advanced manufacturing of dielectric meta-devices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F5BD7B-3E18-3650-A8AA-603C08C3A8E9}"/>
              </a:ext>
            </a:extLst>
          </p:cNvPr>
          <p:cNvSpPr txBox="1"/>
          <p:nvPr/>
        </p:nvSpPr>
        <p:spPr>
          <a:xfrm>
            <a:off x="9859432" y="3881328"/>
            <a:ext cx="422910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① 标准纳米光刻：</a:t>
            </a:r>
            <a:r>
              <a:rPr lang="en-US" altLang="zh-CN" sz="2800" dirty="0"/>
              <a:t>EBL</a:t>
            </a:r>
            <a:r>
              <a:rPr lang="zh-CN" altLang="en-US" sz="2800" dirty="0"/>
              <a:t> </a:t>
            </a:r>
            <a:r>
              <a:rPr lang="en-US" altLang="zh-CN" sz="2800" dirty="0"/>
              <a:t>/ FIB / </a:t>
            </a:r>
            <a:r>
              <a:rPr lang="zh-CN" altLang="en-US" sz="2800" dirty="0"/>
              <a:t>激光</a:t>
            </a:r>
            <a:r>
              <a:rPr lang="en-US" altLang="zh-CN" sz="2800" dirty="0"/>
              <a:t>——</a:t>
            </a:r>
            <a:r>
              <a:rPr lang="zh-CN" altLang="en-US" sz="2800" dirty="0"/>
              <a:t>高分辨率、低吞吐（</a:t>
            </a:r>
            <a:r>
              <a:rPr lang="zh-CN" altLang="en-US" sz="2800" dirty="0">
                <a:solidFill>
                  <a:srgbClr val="FF0000"/>
                </a:solidFill>
              </a:rPr>
              <a:t>实验室</a:t>
            </a:r>
            <a:r>
              <a:rPr lang="zh-CN" altLang="en-US" sz="2800" dirty="0"/>
              <a:t>主力）</a:t>
            </a:r>
          </a:p>
          <a:p>
            <a:r>
              <a:rPr lang="zh-CN" altLang="en-US" sz="2800" dirty="0"/>
              <a:t>② 先进纳米光刻：灰度 </a:t>
            </a:r>
            <a:r>
              <a:rPr lang="en-US" altLang="zh-CN" sz="2800" dirty="0"/>
              <a:t>/ </a:t>
            </a:r>
            <a:r>
              <a:rPr lang="zh-CN" altLang="en-US" sz="2800" dirty="0"/>
              <a:t>多步 </a:t>
            </a:r>
            <a:r>
              <a:rPr lang="en-US" altLang="zh-CN" sz="2800" dirty="0"/>
              <a:t>/ </a:t>
            </a:r>
            <a:r>
              <a:rPr lang="zh-CN" altLang="en-US" sz="2800" dirty="0"/>
              <a:t>扫描探针</a:t>
            </a:r>
            <a:r>
              <a:rPr lang="en-US" altLang="zh-CN" sz="2800" dirty="0"/>
              <a:t>——</a:t>
            </a:r>
            <a:r>
              <a:rPr lang="zh-CN" altLang="zh-CN" sz="2800" dirty="0"/>
              <a:t>灰度光刻可以通过控制剂量做出不同高度</a:t>
            </a:r>
            <a:endParaRPr lang="en-US" altLang="zh-CN" sz="2800" dirty="0"/>
          </a:p>
          <a:p>
            <a:r>
              <a:rPr lang="zh-CN" altLang="en-US" sz="2800" dirty="0"/>
              <a:t>③ 大规模光刻：</a:t>
            </a:r>
            <a:r>
              <a:rPr lang="en-US" altLang="zh-CN" sz="2800" dirty="0"/>
              <a:t>DUV</a:t>
            </a:r>
            <a:r>
              <a:rPr lang="zh-CN" altLang="en-US" sz="2800" dirty="0"/>
              <a:t> </a:t>
            </a:r>
            <a:r>
              <a:rPr lang="en-US" altLang="zh-CN" sz="2800" dirty="0"/>
              <a:t>/ NIL / </a:t>
            </a:r>
            <a:r>
              <a:rPr lang="zh-CN" altLang="en-US" sz="2800" dirty="0"/>
              <a:t>自组装</a:t>
            </a:r>
            <a:r>
              <a:rPr lang="en-US" altLang="zh-CN" sz="2800" dirty="0"/>
              <a:t>——</a:t>
            </a:r>
            <a:r>
              <a:rPr lang="zh-CN" altLang="en-US" sz="2800" dirty="0">
                <a:solidFill>
                  <a:srgbClr val="FF0000"/>
                </a:solidFill>
              </a:rPr>
              <a:t>量产</a:t>
            </a:r>
            <a:r>
              <a:rPr lang="zh-CN" altLang="en-US" sz="2800" dirty="0"/>
              <a:t>路线</a:t>
            </a:r>
          </a:p>
          <a:p>
            <a:r>
              <a:rPr lang="zh-CN" altLang="en-US" sz="2800" dirty="0"/>
              <a:t>④ 极端制造：多层 </a:t>
            </a:r>
            <a:r>
              <a:rPr lang="en-US" altLang="zh-CN" sz="2800" dirty="0"/>
              <a:t>/ </a:t>
            </a:r>
            <a:r>
              <a:rPr lang="zh-CN" altLang="en-US" sz="2800" dirty="0"/>
              <a:t>柔性 </a:t>
            </a:r>
            <a:r>
              <a:rPr lang="en-US" altLang="zh-CN" sz="2800" dirty="0"/>
              <a:t>/ </a:t>
            </a:r>
            <a:r>
              <a:rPr lang="zh-CN" altLang="en-US" sz="2800" dirty="0"/>
              <a:t>倾斜 </a:t>
            </a:r>
            <a:r>
              <a:rPr lang="en-US" altLang="zh-CN" sz="2800" dirty="0"/>
              <a:t>/ </a:t>
            </a:r>
            <a:r>
              <a:rPr lang="zh-CN" altLang="en-US" sz="2800" dirty="0"/>
              <a:t>高深宽比</a:t>
            </a:r>
          </a:p>
        </p:txBody>
      </p:sp>
    </p:spTree>
    <p:extLst>
      <p:ext uri="{BB962C8B-B14F-4D97-AF65-F5344CB8AC3E}">
        <p14:creationId xmlns:p14="http://schemas.microsoft.com/office/powerpoint/2010/main" val="4250979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B6C8-5A9B-2AB9-9523-EA790CD88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41742F-E804-6535-1318-39BC3BC4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+mn-ea"/>
                <a:ea typeface="+mn-ea"/>
              </a:rPr>
              <a:t>F08</a:t>
            </a:r>
            <a:r>
              <a:rPr lang="zh-CN" altLang="en-US" sz="3200" dirty="0">
                <a:latin typeface="+mn-ea"/>
                <a:ea typeface="+mn-ea"/>
              </a:rPr>
              <a:t>的微纳加工体系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3B03E54-C5B6-1D01-40B3-9DAAF40F3E46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3793040-31A5-97FA-D0EC-4402168646D5}"/>
              </a:ext>
            </a:extLst>
          </p:cNvPr>
          <p:cNvSpPr txBox="1"/>
          <p:nvPr/>
        </p:nvSpPr>
        <p:spPr>
          <a:xfrm>
            <a:off x="1413931" y="9955368"/>
            <a:ext cx="11353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PHOTONICS INSIGHTS</a:t>
            </a:r>
            <a:r>
              <a:rPr lang="zh-CN" altLang="en-US" sz="2800" dirty="0"/>
              <a:t>：Advanced manufacturing of dielectric meta-devices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13CFDA-1A56-7698-6688-5130DAFC5360}"/>
              </a:ext>
            </a:extLst>
          </p:cNvPr>
          <p:cNvSpPr txBox="1"/>
          <p:nvPr/>
        </p:nvSpPr>
        <p:spPr>
          <a:xfrm>
            <a:off x="8414279" y="1938572"/>
            <a:ext cx="598593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800" dirty="0"/>
              <a:t>第一是</a:t>
            </a:r>
            <a:r>
              <a:rPr lang="zh-CN" altLang="zh-CN" sz="2800" b="1" dirty="0"/>
              <a:t>案例非常丰富</a:t>
            </a:r>
            <a:r>
              <a:rPr lang="zh-CN" altLang="zh-CN" sz="2800" dirty="0"/>
              <a:t>：</a:t>
            </a:r>
            <a:r>
              <a:rPr lang="zh-CN" altLang="en-US" sz="2800" dirty="0"/>
              <a:t>案例丰富：几十个案例 </a:t>
            </a:r>
            <a:r>
              <a:rPr lang="en-US" altLang="zh-CN" sz="2800" dirty="0"/>
              <a:t>+ SEM </a:t>
            </a:r>
            <a:r>
              <a:rPr lang="zh-CN" altLang="en-US" sz="2800" dirty="0"/>
              <a:t>图 </a:t>
            </a:r>
            <a:r>
              <a:rPr lang="en-US" altLang="zh-CN" sz="2800" dirty="0"/>
              <a:t>+ </a:t>
            </a:r>
            <a:r>
              <a:rPr lang="zh-CN" altLang="en-US" sz="2800" dirty="0"/>
              <a:t>工艺参数（</a:t>
            </a:r>
            <a:r>
              <a:rPr lang="en-US" altLang="zh-CN" sz="2800" dirty="0"/>
              <a:t>Si</a:t>
            </a:r>
            <a:r>
              <a:rPr lang="zh-CN" altLang="en-US" sz="2800" dirty="0"/>
              <a:t> </a:t>
            </a:r>
            <a:r>
              <a:rPr lang="en-US" altLang="zh-CN" sz="2800" dirty="0"/>
              <a:t>/ </a:t>
            </a:r>
            <a:r>
              <a:rPr lang="en-US" altLang="zh-CN" sz="2800" dirty="0" err="1"/>
              <a:t>TiO</a:t>
            </a:r>
            <a:r>
              <a:rPr lang="zh-CN" altLang="en-US" sz="2800" dirty="0"/>
              <a:t>₂ </a:t>
            </a:r>
            <a:r>
              <a:rPr lang="en-US" altLang="zh-CN" sz="2800" dirty="0"/>
              <a:t>/ </a:t>
            </a:r>
            <a:r>
              <a:rPr lang="en-US" altLang="zh-CN" sz="2800" dirty="0" err="1"/>
              <a:t>Si₃N</a:t>
            </a:r>
            <a:r>
              <a:rPr lang="zh-CN" altLang="en-US" sz="2800" dirty="0"/>
              <a:t>₄ </a:t>
            </a:r>
            <a:r>
              <a:rPr lang="en-US" altLang="zh-CN" sz="2800" dirty="0"/>
              <a:t>/ </a:t>
            </a:r>
            <a:r>
              <a:rPr lang="en-US" altLang="zh-CN" sz="2800" dirty="0" err="1"/>
              <a:t>GaN</a:t>
            </a:r>
            <a:r>
              <a:rPr lang="zh-CN" altLang="en-US" sz="2800" dirty="0"/>
              <a:t> </a:t>
            </a:r>
            <a:r>
              <a:rPr lang="en-US" altLang="zh-CN" sz="2800" dirty="0"/>
              <a:t>/ </a:t>
            </a:r>
            <a:r>
              <a:rPr lang="en-US" altLang="zh-CN" sz="2800" dirty="0" err="1"/>
              <a:t>ZnO</a:t>
            </a:r>
            <a:r>
              <a:rPr lang="zh-CN" altLang="en-US" sz="2800" dirty="0"/>
              <a:t>）</a:t>
            </a:r>
            <a:r>
              <a:rPr lang="en-US" altLang="zh-CN" sz="2800" dirty="0"/>
              <a:t>——</a:t>
            </a:r>
            <a:r>
              <a:rPr lang="zh-CN" altLang="en-US" sz="2800" dirty="0"/>
              <a:t>带图的加工手册、引用文献；</a:t>
            </a:r>
            <a:endParaRPr lang="en-US" altLang="zh-CN" sz="2800" dirty="0"/>
          </a:p>
          <a:p>
            <a:pPr>
              <a:buNone/>
            </a:pPr>
            <a:endParaRPr lang="zh-CN" altLang="zh-CN" sz="2800" dirty="0"/>
          </a:p>
          <a:p>
            <a:pPr>
              <a:buNone/>
            </a:pPr>
            <a:r>
              <a:rPr lang="zh-CN" altLang="zh-CN" sz="2800" dirty="0"/>
              <a:t>第二是</a:t>
            </a:r>
            <a:r>
              <a:rPr lang="zh-CN" altLang="zh-CN" sz="2800" b="1" dirty="0"/>
              <a:t>体系完整</a:t>
            </a:r>
            <a:r>
              <a:rPr lang="zh-CN" altLang="zh-CN" sz="2800" dirty="0"/>
              <a:t>：把制造技术从实验室的电子束、离子束，一直讲到 12 英寸晶圆的深紫外量产，一条线串起来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>
              <a:buNone/>
            </a:pPr>
            <a:endParaRPr lang="zh-CN" altLang="zh-CN" sz="2800" dirty="0"/>
          </a:p>
          <a:p>
            <a:pPr>
              <a:buNone/>
            </a:pPr>
            <a:r>
              <a:rPr lang="zh-CN" altLang="zh-CN" sz="2800" dirty="0"/>
              <a:t>第三是</a:t>
            </a:r>
            <a:r>
              <a:rPr lang="zh-CN" altLang="zh-CN" sz="2800" b="1" dirty="0"/>
              <a:t>数据具体</a:t>
            </a:r>
            <a:r>
              <a:rPr lang="zh-CN" altLang="zh-CN" sz="2800" dirty="0"/>
              <a:t>：电子束能做到亚纳米粗糙度、侧壁 89 到 90 度垂直，纳米压印一步复制效率做到 90% 以上。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7FE7BAE-4CD2-6B51-5F41-ED8F5DF61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6243"/>
            <a:ext cx="7721600" cy="34805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EE257CF-C409-C56D-3A57-ECA9BB91A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26401"/>
            <a:ext cx="8096250" cy="233362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CDF29DC-71AF-44CF-5CB0-BF0A78A0FF37}"/>
              </a:ext>
            </a:extLst>
          </p:cNvPr>
          <p:cNvSpPr txBox="1"/>
          <p:nvPr/>
        </p:nvSpPr>
        <p:spPr>
          <a:xfrm>
            <a:off x="2954867" y="5054936"/>
            <a:ext cx="2074334" cy="533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刻蚀硅图案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6DF7E80-1580-39B7-E3F7-2330F2C02562}"/>
              </a:ext>
            </a:extLst>
          </p:cNvPr>
          <p:cNvSpPr txBox="1"/>
          <p:nvPr/>
        </p:nvSpPr>
        <p:spPr>
          <a:xfrm>
            <a:off x="2751668" y="8746402"/>
            <a:ext cx="3191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刻蚀硅多层图案</a:t>
            </a:r>
          </a:p>
        </p:txBody>
      </p:sp>
    </p:spTree>
    <p:extLst>
      <p:ext uri="{BB962C8B-B14F-4D97-AF65-F5344CB8AC3E}">
        <p14:creationId xmlns:p14="http://schemas.microsoft.com/office/powerpoint/2010/main" val="1945948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BA63B-05E3-4C4C-21E6-8CE80EBF5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0582BE-BFB6-1F8C-0394-D34D9A85B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+mn-ea"/>
                <a:ea typeface="+mn-ea"/>
              </a:rPr>
              <a:t>L04</a:t>
            </a:r>
            <a:r>
              <a:rPr lang="zh-CN" altLang="en-US" sz="3200" dirty="0">
                <a:latin typeface="+mn-ea"/>
                <a:ea typeface="+mn-ea"/>
              </a:rPr>
              <a:t>的</a:t>
            </a:r>
            <a:r>
              <a:rPr lang="en-US" altLang="zh-CN" sz="3200" dirty="0">
                <a:latin typeface="+mn-ea"/>
                <a:ea typeface="+mn-ea"/>
              </a:rPr>
              <a:t>PMMA</a:t>
            </a:r>
            <a:r>
              <a:rPr lang="zh-CN" altLang="en-US" sz="3200" dirty="0">
                <a:latin typeface="+mn-ea"/>
                <a:ea typeface="+mn-ea"/>
              </a:rPr>
              <a:t>关键加工工艺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E4DEBA9-FDEE-233E-7945-2ECB4DCD6C72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10BC6954-7345-1554-2049-066573CEE467}"/>
              </a:ext>
            </a:extLst>
          </p:cNvPr>
          <p:cNvSpPr txBox="1"/>
          <p:nvPr/>
        </p:nvSpPr>
        <p:spPr>
          <a:xfrm>
            <a:off x="1024464" y="10099656"/>
            <a:ext cx="155194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/>
              <a:t>ACS Nano</a:t>
            </a:r>
            <a:r>
              <a:rPr lang="zh-CN" altLang="en-US" sz="2800"/>
              <a:t>：</a:t>
            </a:r>
            <a:r>
              <a:rPr lang="en-US" altLang="zh-CN" sz="2800"/>
              <a:t>Accessible, All-Polymer Metasurfaces: Low Effort, High Quality Factor</a:t>
            </a:r>
            <a:endParaRPr lang="zh-CN" altLang="en-US" sz="2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DC03B0F-A9EC-D1C5-FD1C-5390FF7F5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6317"/>
            <a:ext cx="5468918" cy="430221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B1A4C85-A0E6-E7FB-293D-3A781930B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866" y="1058680"/>
            <a:ext cx="8177095" cy="395358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E398F09-27C8-0D40-194A-88922610C561}"/>
              </a:ext>
            </a:extLst>
          </p:cNvPr>
          <p:cNvSpPr txBox="1"/>
          <p:nvPr/>
        </p:nvSpPr>
        <p:spPr>
          <a:xfrm>
            <a:off x="1299633" y="5589600"/>
            <a:ext cx="11010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把 PMMA 当作超表面的谐振材料，实现了低折射率的较高</a:t>
            </a:r>
            <a:r>
              <a:rPr lang="en-US" altLang="zh-CN" sz="2800" dirty="0"/>
              <a:t>Q</a:t>
            </a:r>
            <a:r>
              <a:rPr lang="zh-CN" altLang="en-US" sz="2800" dirty="0"/>
              <a:t>值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A6DDC70-2454-1EA0-850A-A82E846F7CDB}"/>
              </a:ext>
            </a:extLst>
          </p:cNvPr>
          <p:cNvSpPr txBox="1"/>
          <p:nvPr/>
        </p:nvSpPr>
        <p:spPr>
          <a:xfrm>
            <a:off x="1473200" y="6596503"/>
            <a:ext cx="1148503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· PMMA 950K</a:t>
            </a:r>
            <a:r>
              <a:rPr lang="zh-CN" altLang="en-US" sz="3200" dirty="0"/>
              <a:t>（</a:t>
            </a:r>
            <a:r>
              <a:rPr lang="en-US" altLang="zh-CN" sz="3200" dirty="0"/>
              <a:t>AR-P 679.04</a:t>
            </a:r>
            <a:r>
              <a:rPr lang="zh-CN" altLang="en-US" sz="3200" dirty="0"/>
              <a:t>，折射率约</a:t>
            </a:r>
            <a:r>
              <a:rPr lang="en-US" altLang="zh-CN" sz="3200" dirty="0"/>
              <a:t>1.5</a:t>
            </a:r>
            <a:r>
              <a:rPr lang="zh-CN" altLang="en-US" sz="3200" dirty="0"/>
              <a:t>），</a:t>
            </a:r>
            <a:endParaRPr lang="en-US" altLang="zh-CN" sz="3200" dirty="0"/>
          </a:p>
          <a:p>
            <a:r>
              <a:rPr lang="zh-CN" altLang="en-US" sz="3200" dirty="0"/>
              <a:t>旋涂 </a:t>
            </a:r>
            <a:r>
              <a:rPr lang="en-US" altLang="zh-CN" sz="3200" dirty="0"/>
              <a:t>300 nm</a:t>
            </a:r>
          </a:p>
          <a:p>
            <a:r>
              <a:rPr lang="en-US" altLang="zh-CN" sz="3200" dirty="0"/>
              <a:t>· EBL 20 kV / 200–250 </a:t>
            </a:r>
            <a:r>
              <a:rPr lang="el-GR" altLang="zh-CN" sz="3200" dirty="0"/>
              <a:t>μ</a:t>
            </a:r>
            <a:r>
              <a:rPr lang="en-US" altLang="zh-CN" sz="3200" dirty="0"/>
              <a:t>C/cm²</a:t>
            </a:r>
            <a:r>
              <a:rPr lang="zh-CN" altLang="en-US" sz="3200" dirty="0"/>
              <a:t>，</a:t>
            </a:r>
            <a:r>
              <a:rPr lang="zh-CN" altLang="en-US" sz="3200" dirty="0">
                <a:highlight>
                  <a:srgbClr val="FFFF00"/>
                </a:highlight>
              </a:rPr>
              <a:t>使用</a:t>
            </a:r>
            <a:r>
              <a:rPr lang="en-US" altLang="zh-CN" sz="3200" dirty="0" err="1">
                <a:highlight>
                  <a:srgbClr val="FFFF00"/>
                </a:highlight>
              </a:rPr>
              <a:t>Espacer</a:t>
            </a:r>
            <a:r>
              <a:rPr lang="en-US" altLang="zh-CN" sz="3200" dirty="0">
                <a:highlight>
                  <a:srgbClr val="FFFF00"/>
                </a:highlight>
              </a:rPr>
              <a:t> </a:t>
            </a:r>
            <a:endParaRPr lang="zh-CN" altLang="en-US" sz="3200" dirty="0">
              <a:highlight>
                <a:srgbClr val="FFFF00"/>
              </a:highlight>
            </a:endParaRPr>
          </a:p>
          <a:p>
            <a:r>
              <a:rPr lang="en-US" altLang="zh-CN" sz="3200" dirty="0"/>
              <a:t>· </a:t>
            </a:r>
            <a:r>
              <a:rPr lang="zh-CN" altLang="en-US" sz="3200" dirty="0"/>
              <a:t>显影 </a:t>
            </a:r>
            <a:r>
              <a:rPr lang="en-US" altLang="zh-CN" sz="3200" dirty="0"/>
              <a:t>7:3 IPA:</a:t>
            </a:r>
            <a:r>
              <a:rPr lang="zh-CN" altLang="en-US" sz="3200" dirty="0"/>
              <a:t>水（与 </a:t>
            </a:r>
            <a:r>
              <a:rPr lang="en-US" altLang="zh-CN" sz="3200" dirty="0"/>
              <a:t>L01 </a:t>
            </a:r>
            <a:r>
              <a:rPr lang="zh-CN" altLang="en-US" sz="3200" dirty="0"/>
              <a:t>的 </a:t>
            </a:r>
            <a:r>
              <a:rPr lang="en-US" altLang="zh-CN" sz="3200" dirty="0"/>
              <a:t>3:1 </a:t>
            </a:r>
            <a:r>
              <a:rPr lang="zh-CN" altLang="en-US" sz="3200" dirty="0"/>
              <a:t>相似）</a:t>
            </a:r>
          </a:p>
          <a:p>
            <a:r>
              <a:rPr lang="en-US" altLang="zh-CN" sz="3200" dirty="0"/>
              <a:t>· CSAR </a:t>
            </a:r>
            <a:r>
              <a:rPr lang="zh-CN" altLang="en-US" sz="3200" dirty="0"/>
              <a:t>牺牲层 → 自由悬浮膜（</a:t>
            </a:r>
            <a:r>
              <a:rPr lang="en-US" altLang="zh-CN" sz="3200" dirty="0"/>
              <a:t>40 </a:t>
            </a:r>
            <a:r>
              <a:rPr lang="el-GR" altLang="zh-CN" sz="3200" dirty="0"/>
              <a:t>μ</a:t>
            </a:r>
            <a:r>
              <a:rPr lang="en-US" altLang="zh-CN" sz="3200" dirty="0"/>
              <a:t>m </a:t>
            </a:r>
            <a:r>
              <a:rPr lang="zh-CN" altLang="en-US" sz="3200" dirty="0"/>
              <a:t>不塌）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AAACF5E-E857-79C5-7ED0-380C98174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1542" y="6846444"/>
            <a:ext cx="3889253" cy="112189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8A68003-95C8-D2E5-B3F0-3C5CE59A6022}"/>
              </a:ext>
            </a:extLst>
          </p:cNvPr>
          <p:cNvSpPr/>
          <p:nvPr/>
        </p:nvSpPr>
        <p:spPr>
          <a:xfrm>
            <a:off x="9963679" y="6773333"/>
            <a:ext cx="3962400" cy="115146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6DC24F-C9EB-F4B4-F888-FB17EA92552E}"/>
              </a:ext>
            </a:extLst>
          </p:cNvPr>
          <p:cNvSpPr txBox="1"/>
          <p:nvPr/>
        </p:nvSpPr>
        <p:spPr>
          <a:xfrm>
            <a:off x="10221913" y="6825733"/>
            <a:ext cx="835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AR-P </a:t>
            </a:r>
          </a:p>
        </p:txBody>
      </p:sp>
    </p:spTree>
    <p:extLst>
      <p:ext uri="{BB962C8B-B14F-4D97-AF65-F5344CB8AC3E}">
        <p14:creationId xmlns:p14="http://schemas.microsoft.com/office/powerpoint/2010/main" val="288566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5705B-E100-5541-F5D3-351941BBF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2945B-BF21-66CF-0AE1-64150D881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+mn-ea"/>
                <a:ea typeface="+mn-ea"/>
              </a:rPr>
              <a:t>L03</a:t>
            </a:r>
            <a:r>
              <a:rPr lang="zh-CN" altLang="en-US" sz="3200" dirty="0">
                <a:latin typeface="+mn-ea"/>
                <a:ea typeface="+mn-ea"/>
              </a:rPr>
              <a:t>和</a:t>
            </a:r>
            <a:r>
              <a:rPr lang="en-US" altLang="zh-CN" sz="3200" dirty="0">
                <a:latin typeface="+mn-ea"/>
                <a:ea typeface="+mn-ea"/>
              </a:rPr>
              <a:t>L05</a:t>
            </a:r>
            <a:r>
              <a:rPr lang="zh-CN" altLang="en-US" sz="3200" dirty="0">
                <a:latin typeface="+mn-ea"/>
                <a:ea typeface="+mn-ea"/>
              </a:rPr>
              <a:t>的加工参考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94145C2-4AA3-00CB-619A-1F0788DC6F05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FAA2CCAB-D1FF-34AB-A2BE-9560FB665388}"/>
              </a:ext>
            </a:extLst>
          </p:cNvPr>
          <p:cNvSpPr txBox="1"/>
          <p:nvPr/>
        </p:nvSpPr>
        <p:spPr>
          <a:xfrm>
            <a:off x="740834" y="4056503"/>
            <a:ext cx="68622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L03</a:t>
            </a:r>
            <a:r>
              <a:rPr lang="zh-CN" altLang="en-US" sz="3200" dirty="0"/>
              <a:t>（</a:t>
            </a:r>
            <a:r>
              <a:rPr lang="en-US" altLang="zh-CN" sz="3200" dirty="0" err="1"/>
              <a:t>SiN</a:t>
            </a:r>
            <a:r>
              <a:rPr lang="en-US" altLang="zh-CN" sz="3200" dirty="0"/>
              <a:t> </a:t>
            </a:r>
            <a:r>
              <a:rPr lang="zh-CN" altLang="en-US" sz="3200" dirty="0"/>
              <a:t>加工参考）</a:t>
            </a:r>
          </a:p>
          <a:p>
            <a:r>
              <a:rPr lang="en-US" altLang="zh-CN" sz="3200" dirty="0">
                <a:highlight>
                  <a:srgbClr val="FFFF00"/>
                </a:highlight>
              </a:rPr>
              <a:t>PECVD</a:t>
            </a:r>
            <a:r>
              <a:rPr lang="en-US" altLang="zh-CN" sz="3200" dirty="0"/>
              <a:t>/LPCVD </a:t>
            </a:r>
            <a:r>
              <a:rPr lang="zh-CN" altLang="en-US" sz="3200" dirty="0"/>
              <a:t>沉积 </a:t>
            </a:r>
            <a:r>
              <a:rPr lang="en-US" altLang="zh-CN" sz="3200" dirty="0"/>
              <a:t>· </a:t>
            </a:r>
            <a:r>
              <a:rPr lang="zh-CN" altLang="en-US" sz="3200" dirty="0"/>
              <a:t>薄膜应力 </a:t>
            </a:r>
            <a:r>
              <a:rPr lang="en-US" altLang="zh-CN" sz="3200" dirty="0"/>
              <a:t>· </a:t>
            </a:r>
            <a:r>
              <a:rPr lang="zh-CN" altLang="en-US" sz="3200" dirty="0"/>
              <a:t>波导损耗 </a:t>
            </a:r>
            <a:r>
              <a:rPr lang="en-US" altLang="zh-CN" sz="3200" dirty="0"/>
              <a:t>· </a:t>
            </a:r>
            <a:r>
              <a:rPr lang="zh-CN" altLang="en-US" sz="3200" dirty="0"/>
              <a:t>端面耦合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A70354-0A8F-FC19-5CCD-B0923560210E}"/>
              </a:ext>
            </a:extLst>
          </p:cNvPr>
          <p:cNvSpPr txBox="1"/>
          <p:nvPr/>
        </p:nvSpPr>
        <p:spPr>
          <a:xfrm>
            <a:off x="859367" y="9273570"/>
            <a:ext cx="1143423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L05</a:t>
            </a:r>
            <a:r>
              <a:rPr lang="zh-CN" altLang="en-US" sz="3200" dirty="0"/>
              <a:t>（</a:t>
            </a:r>
            <a:r>
              <a:rPr lang="en-US" altLang="zh-CN" sz="3200" dirty="0"/>
              <a:t>PMMA </a:t>
            </a:r>
            <a:r>
              <a:rPr lang="zh-CN" altLang="en-US" sz="3200" dirty="0"/>
              <a:t>参考）</a:t>
            </a:r>
          </a:p>
          <a:p>
            <a:r>
              <a:rPr lang="zh-CN" altLang="en-US" sz="3200" dirty="0"/>
              <a:t>曝光</a:t>
            </a:r>
            <a:r>
              <a:rPr lang="en-US" altLang="zh-CN" sz="3200" dirty="0"/>
              <a:t>/</a:t>
            </a:r>
            <a:r>
              <a:rPr lang="zh-CN" altLang="en-US" sz="3200" dirty="0"/>
              <a:t>显影机理 </a:t>
            </a:r>
            <a:r>
              <a:rPr lang="en-US" altLang="zh-CN" sz="3200" dirty="0"/>
              <a:t>· </a:t>
            </a:r>
            <a:r>
              <a:rPr lang="zh-CN" altLang="en-US" sz="3200" dirty="0"/>
              <a:t>分子量影响 </a:t>
            </a:r>
            <a:r>
              <a:rPr lang="en-US" altLang="zh-CN" sz="3200" dirty="0"/>
              <a:t>· </a:t>
            </a:r>
            <a:r>
              <a:rPr lang="zh-CN" altLang="en-US" sz="3200" dirty="0"/>
              <a:t>剂量标定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C817622-2F37-E2C7-0744-B1BA4F0F8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92" y="1129689"/>
            <a:ext cx="6990541" cy="295238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EA5B989-4526-A924-6147-15302E655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43" y="5576853"/>
            <a:ext cx="6805857" cy="367619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D5B8948-6AF5-D27B-AFD0-2CAB3B5DDF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8665" y="1841120"/>
            <a:ext cx="6129868" cy="8183414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7FB7A8C1-4959-40E2-A374-B25F83304578}"/>
              </a:ext>
            </a:extLst>
          </p:cNvPr>
          <p:cNvSpPr/>
          <p:nvPr/>
        </p:nvSpPr>
        <p:spPr>
          <a:xfrm>
            <a:off x="8466667" y="5012266"/>
            <a:ext cx="1591734" cy="67733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9BEFEC7-9E26-9CD2-88BE-55F8808F502F}"/>
              </a:ext>
            </a:extLst>
          </p:cNvPr>
          <p:cNvSpPr/>
          <p:nvPr/>
        </p:nvSpPr>
        <p:spPr>
          <a:xfrm>
            <a:off x="8382000" y="2844800"/>
            <a:ext cx="1591734" cy="67733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449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88E2B-0F79-E963-EC18-877085502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963A0A-F2EB-D7CA-555C-4A67BFDF1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latin typeface="+mn-ea"/>
                <a:ea typeface="+mn-ea"/>
              </a:rPr>
              <a:t>Github</a:t>
            </a:r>
            <a:r>
              <a:rPr lang="en-US" altLang="zh-CN" sz="3200" dirty="0">
                <a:latin typeface="+mn-ea"/>
                <a:ea typeface="+mn-ea"/>
              </a:rPr>
              <a:t> </a:t>
            </a:r>
            <a:r>
              <a:rPr lang="zh-CN" altLang="en-US" sz="3200" dirty="0">
                <a:latin typeface="+mn-ea"/>
                <a:ea typeface="+mn-ea"/>
              </a:rPr>
              <a:t>项目介绍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EB0C717-101E-CA7D-40CE-E5E5D49F4674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40F3CFA-5CE9-388F-CAD5-4F4EE632D092}"/>
              </a:ext>
            </a:extLst>
          </p:cNvPr>
          <p:cNvSpPr txBox="1"/>
          <p:nvPr/>
        </p:nvSpPr>
        <p:spPr>
          <a:xfrm>
            <a:off x="9279466" y="1234399"/>
            <a:ext cx="4707467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GitHub </a:t>
            </a:r>
            <a:r>
              <a:rPr lang="zh-CN" altLang="en-US" sz="2800" dirty="0"/>
              <a:t>在线实时更新</a:t>
            </a:r>
          </a:p>
          <a:p>
            <a:r>
              <a:rPr lang="en-US" altLang="zh-CN" sz="2800" dirty="0"/>
              <a:t>· </a:t>
            </a:r>
            <a:r>
              <a:rPr lang="zh-CN" altLang="en-US" sz="2800" dirty="0">
                <a:highlight>
                  <a:srgbClr val="FFFF00"/>
                </a:highlight>
              </a:rPr>
              <a:t>文献 </a:t>
            </a:r>
            <a:r>
              <a:rPr lang="en-US" altLang="zh-CN" sz="2800" dirty="0">
                <a:highlight>
                  <a:srgbClr val="FFFF00"/>
                </a:highlight>
              </a:rPr>
              <a:t>/ </a:t>
            </a:r>
            <a:r>
              <a:rPr lang="zh-CN" altLang="en-US" sz="2800" dirty="0">
                <a:highlight>
                  <a:srgbClr val="FFFF00"/>
                </a:highlight>
              </a:rPr>
              <a:t>笔记 </a:t>
            </a:r>
            <a:r>
              <a:rPr lang="en-US" altLang="zh-CN" sz="2800" dirty="0"/>
              <a:t>/ </a:t>
            </a:r>
            <a:r>
              <a:rPr lang="zh-CN" altLang="en-US" sz="2800" dirty="0"/>
              <a:t>仿真 </a:t>
            </a:r>
            <a:r>
              <a:rPr lang="en-US" altLang="zh-CN" sz="2800" dirty="0"/>
              <a:t>/ </a:t>
            </a:r>
            <a:r>
              <a:rPr lang="zh-CN" altLang="en-US" sz="2800" dirty="0"/>
              <a:t>实验 全部入库</a:t>
            </a:r>
          </a:p>
          <a:p>
            <a:r>
              <a:rPr lang="en-US" altLang="zh-CN" sz="2800" dirty="0"/>
              <a:t>· </a:t>
            </a:r>
            <a:r>
              <a:rPr lang="en-US" altLang="zh-CN" sz="2800" dirty="0" err="1"/>
              <a:t>project_config.json</a:t>
            </a:r>
            <a:r>
              <a:rPr lang="zh-CN" altLang="en-US" sz="2800" dirty="0"/>
              <a:t> 单一状态源</a:t>
            </a:r>
            <a:endParaRPr lang="en-US" altLang="zh-CN" sz="2800" dirty="0"/>
          </a:p>
          <a:p>
            <a:r>
              <a:rPr lang="zh-CN" altLang="en-US" sz="2800" dirty="0"/>
              <a:t>（查状态只查一处，不会出现</a:t>
            </a:r>
            <a:r>
              <a:rPr lang="en-US" altLang="zh-CN" sz="2800" dirty="0"/>
              <a:t>"README </a:t>
            </a:r>
            <a:r>
              <a:rPr lang="zh-CN" altLang="en-US" sz="2800" dirty="0"/>
              <a:t>说没做、结果其实已经有了</a:t>
            </a:r>
            <a:r>
              <a:rPr lang="en-US" altLang="zh-CN" sz="2800" dirty="0"/>
              <a:t>"</a:t>
            </a:r>
            <a:r>
              <a:rPr lang="zh-CN" altLang="en-US" sz="2800" dirty="0"/>
              <a:t>的矛盾）</a:t>
            </a:r>
            <a:endParaRPr lang="en-US" altLang="zh-CN" sz="2800" dirty="0"/>
          </a:p>
          <a:p>
            <a:endParaRPr lang="zh-CN" altLang="en-US" sz="2800" dirty="0"/>
          </a:p>
          <a:p>
            <a:r>
              <a:rPr lang="en-US" altLang="zh-CN" sz="2800" dirty="0"/>
              <a:t>· L01 / L02 </a:t>
            </a:r>
            <a:r>
              <a:rPr lang="zh-CN" altLang="en-US" sz="2800" dirty="0"/>
              <a:t>双轨道分轨；</a:t>
            </a:r>
            <a:r>
              <a:rPr lang="en-US" altLang="zh-CN" sz="2800" dirty="0" err="1"/>
              <a:t>run_manifest</a:t>
            </a:r>
            <a:r>
              <a:rPr lang="zh-CN" altLang="en-US" sz="2800" dirty="0"/>
              <a:t> 证据链</a:t>
            </a:r>
            <a:endParaRPr lang="en-US" altLang="zh-CN" sz="2800" dirty="0"/>
          </a:p>
          <a:p>
            <a:r>
              <a:rPr lang="zh-CN" altLang="en-US" sz="2800" dirty="0"/>
              <a:t>（结果是怎么来的、用的是什么参数、跑的是哪版代码）</a:t>
            </a:r>
            <a:endParaRPr lang="en-US" altLang="zh-CN" sz="2800" dirty="0"/>
          </a:p>
          <a:p>
            <a:endParaRPr lang="zh-CN" altLang="en-US" sz="2800" dirty="0"/>
          </a:p>
          <a:p>
            <a:r>
              <a:rPr lang="en-US" altLang="zh-CN" sz="2800" dirty="0"/>
              <a:t>AI </a:t>
            </a:r>
            <a:r>
              <a:rPr lang="zh-CN" altLang="en-US" sz="2800" dirty="0"/>
              <a:t>提效：文献精读 </a:t>
            </a:r>
            <a:r>
              <a:rPr lang="en-US" altLang="zh-CN" sz="2800" dirty="0"/>
              <a:t>· </a:t>
            </a:r>
            <a:r>
              <a:rPr lang="zh-CN" altLang="en-US" sz="2800" dirty="0"/>
              <a:t>综合报告 </a:t>
            </a:r>
            <a:r>
              <a:rPr lang="en-US" altLang="zh-CN" sz="2800" dirty="0"/>
              <a:t>· </a:t>
            </a:r>
            <a:r>
              <a:rPr lang="zh-CN" altLang="en-US" sz="2800" dirty="0"/>
              <a:t>制备制造 </a:t>
            </a:r>
            <a:r>
              <a:rPr lang="en-US" altLang="zh-CN" sz="2800" dirty="0"/>
              <a:t>· </a:t>
            </a:r>
            <a:r>
              <a:rPr lang="zh-CN" altLang="en-US" sz="2800" dirty="0"/>
              <a:t>仿真自动化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F628796-E3B6-C6A5-D3E5-9652A3221985}"/>
              </a:ext>
            </a:extLst>
          </p:cNvPr>
          <p:cNvSpPr txBox="1"/>
          <p:nvPr/>
        </p:nvSpPr>
        <p:spPr>
          <a:xfrm>
            <a:off x="719667" y="8453104"/>
            <a:ext cx="129963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L02</a:t>
            </a:r>
            <a:r>
              <a:rPr lang="zh-CN" altLang="en-US" sz="2800" dirty="0"/>
              <a:t>（</a:t>
            </a:r>
            <a:r>
              <a:rPr lang="en-US" altLang="zh-CN" sz="2800" dirty="0"/>
              <a:t>Guo 2020</a:t>
            </a:r>
            <a:r>
              <a:rPr lang="zh-CN" altLang="en-US" sz="2800" dirty="0"/>
              <a:t>）：</a:t>
            </a:r>
            <a:r>
              <a:rPr lang="en-US" altLang="zh-CN" sz="2800" dirty="0"/>
              <a:t>COMSOL </a:t>
            </a:r>
            <a:r>
              <a:rPr lang="zh-CN" altLang="en-US" sz="2800" dirty="0"/>
              <a:t>复现 </a:t>
            </a:r>
            <a:r>
              <a:rPr lang="en-US" altLang="zh-CN" sz="2800" dirty="0"/>
              <a:t>45° </a:t>
            </a:r>
            <a:r>
              <a:rPr lang="zh-CN" altLang="en-US" sz="2800" dirty="0"/>
              <a:t>辐射超表面波导</a:t>
            </a:r>
          </a:p>
          <a:p>
            <a:r>
              <a:rPr lang="en-US" altLang="zh-CN" sz="2800" dirty="0"/>
              <a:t>· 15 </a:t>
            </a:r>
            <a:r>
              <a:rPr lang="zh-CN" altLang="en-US" sz="2800" dirty="0"/>
              <a:t>超胞 </a:t>
            </a:r>
            <a:r>
              <a:rPr lang="en-US" altLang="zh-CN" sz="2800" dirty="0"/>
              <a:t>/ 45 meta-atom / 135 </a:t>
            </a:r>
            <a:r>
              <a:rPr lang="zh-CN" altLang="en-US" sz="2800" dirty="0"/>
              <a:t>层 </a:t>
            </a:r>
            <a:r>
              <a:rPr lang="en-US" altLang="zh-CN" sz="2800" dirty="0"/>
              <a:t>Au-SiO₂-Au</a:t>
            </a:r>
          </a:p>
          <a:p>
            <a:r>
              <a:rPr lang="en-US" altLang="zh-CN" sz="2800" dirty="0"/>
              <a:t>· </a:t>
            </a:r>
            <a:r>
              <a:rPr lang="zh-CN" altLang="en-US" sz="2800" dirty="0"/>
              <a:t>模拟角谱峰 </a:t>
            </a:r>
            <a:r>
              <a:rPr lang="en-US" altLang="zh-CN" sz="2800" dirty="0"/>
              <a:t>+45.0147°</a:t>
            </a:r>
            <a:r>
              <a:rPr lang="zh-CN" altLang="en-US" sz="2800" dirty="0"/>
              <a:t>（目标 </a:t>
            </a:r>
            <a:r>
              <a:rPr lang="en-US" altLang="zh-CN" sz="2800" dirty="0"/>
              <a:t>+45°</a:t>
            </a:r>
            <a:r>
              <a:rPr lang="zh-CN" altLang="en-US" sz="2800" dirty="0"/>
              <a:t>）</a:t>
            </a:r>
          </a:p>
          <a:p>
            <a:r>
              <a:rPr lang="en-US" altLang="zh-CN" sz="2800" dirty="0"/>
              <a:t>· </a:t>
            </a:r>
            <a:r>
              <a:rPr lang="en-US" altLang="zh-CN" sz="2800" dirty="0" err="1"/>
              <a:t>run_manifest</a:t>
            </a:r>
            <a:r>
              <a:rPr lang="en-US" altLang="zh-CN" sz="2800" dirty="0"/>
              <a:t> </a:t>
            </a:r>
            <a:r>
              <a:rPr lang="zh-CN" altLang="en-US" sz="2800" dirty="0"/>
              <a:t>可追溯；无 </a:t>
            </a:r>
            <a:r>
              <a:rPr lang="en-US" altLang="zh-CN" sz="2800" dirty="0"/>
              <a:t>COMSOL </a:t>
            </a:r>
            <a:r>
              <a:rPr lang="zh-CN" altLang="en-US" sz="2800" dirty="0"/>
              <a:t>可用 </a:t>
            </a:r>
            <a:r>
              <a:rPr lang="en-US" altLang="zh-CN" sz="2800" dirty="0"/>
              <a:t>mock </a:t>
            </a:r>
            <a:r>
              <a:rPr lang="zh-CN" altLang="en-US" sz="2800" dirty="0"/>
              <a:t>验证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D2EDC9D-03DA-0E79-2703-FFFD5AE1A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72" y="867879"/>
            <a:ext cx="8079228" cy="712873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6A1E4E8-3D19-C78E-A101-8C0F90ECE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137" y="8263467"/>
            <a:ext cx="2971330" cy="229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267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6D39F-5AD6-C5F3-1704-58D2FA87A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9E587B-4644-0DE4-3E43-A0A740460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8749"/>
            <a:ext cx="6137031" cy="832357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+mn-ea"/>
                <a:ea typeface="+mn-ea"/>
              </a:rPr>
              <a:t>下一步项目计划</a:t>
            </a:r>
            <a:endParaRPr lang="en-US" sz="3200" dirty="0">
              <a:latin typeface="+mn-ea"/>
              <a:ea typeface="+mn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4B60A01-462E-FC2C-7461-C6A36D1054AB}"/>
              </a:ext>
            </a:extLst>
          </p:cNvPr>
          <p:cNvCxnSpPr/>
          <p:nvPr/>
        </p:nvCxnSpPr>
        <p:spPr>
          <a:xfrm>
            <a:off x="0" y="772887"/>
            <a:ext cx="1440021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34BE6AB-4F67-C224-CAAB-37625A11D9F0}"/>
              </a:ext>
            </a:extLst>
          </p:cNvPr>
          <p:cNvSpPr txBox="1"/>
          <p:nvPr/>
        </p:nvSpPr>
        <p:spPr>
          <a:xfrm>
            <a:off x="380999" y="1442704"/>
            <a:ext cx="1299633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明确</a:t>
            </a:r>
            <a:r>
              <a:rPr lang="en-US" altLang="zh-CN" sz="2800" dirty="0"/>
              <a:t>AEMD </a:t>
            </a:r>
            <a:r>
              <a:rPr lang="zh-CN" altLang="en-US" sz="2800" dirty="0"/>
              <a:t>平台的条件；</a:t>
            </a:r>
            <a:endParaRPr lang="en-US" altLang="zh-CN" sz="2800" dirty="0"/>
          </a:p>
          <a:p>
            <a:r>
              <a:rPr lang="zh-CN" altLang="en-US" sz="2800" dirty="0"/>
              <a:t>了解波导结构的端面耦合；</a:t>
            </a:r>
            <a:endParaRPr lang="en-US" altLang="zh-CN" sz="2800" dirty="0"/>
          </a:p>
          <a:p>
            <a:r>
              <a:rPr lang="zh-CN" altLang="zh-CN" sz="2800" dirty="0"/>
              <a:t>可用的 EBL 设备型号和电压（决定剂量标定）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r>
              <a:rPr lang="zh-CN" altLang="en-US" sz="2800" dirty="0"/>
              <a:t>平台的</a:t>
            </a:r>
            <a:r>
              <a:rPr lang="en-US" altLang="zh-CN" sz="2800" dirty="0"/>
              <a:t>PMMA</a:t>
            </a:r>
            <a:r>
              <a:rPr lang="zh-CN" altLang="en-US" sz="2800" dirty="0"/>
              <a:t>的型号和加工条件；</a:t>
            </a:r>
            <a:endParaRPr lang="en-US" altLang="zh-CN" sz="2800" dirty="0"/>
          </a:p>
          <a:p>
            <a:r>
              <a:rPr lang="zh-CN" altLang="en-US" sz="2800" dirty="0"/>
              <a:t>确定第一款试加工的波导结构和大小；</a:t>
            </a:r>
            <a:endParaRPr lang="en-US" altLang="zh-CN" sz="2800" dirty="0"/>
          </a:p>
          <a:p>
            <a:r>
              <a:rPr lang="zh-CN" altLang="en-US" sz="2800" dirty="0"/>
              <a:t>明确波导加工最后一步如何将衬底进行解理；</a:t>
            </a:r>
            <a:r>
              <a:rPr lang="en-US" altLang="zh-CN" sz="2800" dirty="0"/>
              <a:t>·······</a:t>
            </a:r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项目后续实时在线更新，更好进行后续项目交流、移植</a:t>
            </a:r>
            <a:endParaRPr lang="en-US" altLang="zh-CN" sz="2800" dirty="0"/>
          </a:p>
          <a:p>
            <a:r>
              <a:rPr lang="zh-CN" altLang="en-US" sz="2800" dirty="0"/>
              <a:t>（三个</a:t>
            </a:r>
            <a:r>
              <a:rPr lang="en-US" altLang="zh-CN" sz="2800" dirty="0"/>
              <a:t>AI</a:t>
            </a:r>
            <a:r>
              <a:rPr lang="zh-CN" altLang="en-US" sz="2800" dirty="0"/>
              <a:t>助手，服务器上</a:t>
            </a:r>
            <a:r>
              <a:rPr lang="en-US" altLang="zh-CN" sz="2800" dirty="0"/>
              <a:t>codex</a:t>
            </a:r>
            <a:r>
              <a:rPr lang="zh-CN" altLang="en-US" sz="2800" dirty="0"/>
              <a:t>主要进行仿真、个人电脑上</a:t>
            </a:r>
            <a:r>
              <a:rPr lang="en-US" altLang="zh-CN" sz="2800" dirty="0"/>
              <a:t>codex</a:t>
            </a:r>
            <a:r>
              <a:rPr lang="zh-CN" altLang="en-US" sz="2800" dirty="0"/>
              <a:t>进行项目整理和优化、另外一个助手进行辅助文献阅读）</a:t>
            </a:r>
          </a:p>
        </p:txBody>
      </p:sp>
    </p:spTree>
    <p:extLst>
      <p:ext uri="{BB962C8B-B14F-4D97-AF65-F5344CB8AC3E}">
        <p14:creationId xmlns:p14="http://schemas.microsoft.com/office/powerpoint/2010/main" val="19974235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F58E6054F5A4E44A8CB71611E90AD7E870972AD8981759B36AA6A6041DE2B714" val="[{&quot;GradientColorId&quot;:&quot;&quot;,&quot;IsFree&quot;:true,&quot;IsGradient&quot;:false,&quot;ImagePath&quot;:&quot;&quot;,&quot;GradientColor&quot;:null,&quot;SimpleColor&quot;:&quot;#FF0000&quot;}]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20260529_模式选择拓扑边界态激光_张冠捷</Template>
  <TotalTime>1665</TotalTime>
  <Words>1455</Words>
  <Application>Microsoft Office PowerPoint</Application>
  <PresentationFormat>自定义</PresentationFormat>
  <Paragraphs>83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FZShuSong-Z01</vt:lpstr>
      <vt:lpstr>等线</vt:lpstr>
      <vt:lpstr>Arial</vt:lpstr>
      <vt:lpstr>Calibri</vt:lpstr>
      <vt:lpstr>Calibri Light</vt:lpstr>
      <vt:lpstr>Office 主题​​</vt:lpstr>
      <vt:lpstr>超表面项目汇报 微纳加工技术相关整理 </vt:lpstr>
      <vt:lpstr>Github 辅助项目管理</vt:lpstr>
      <vt:lpstr>L01的加工要点</vt:lpstr>
      <vt:lpstr>L01的加工要点</vt:lpstr>
      <vt:lpstr>F08的微纳加工体系</vt:lpstr>
      <vt:lpstr>F08的微纳加工体系</vt:lpstr>
      <vt:lpstr>L04的PMMA关键加工工艺</vt:lpstr>
      <vt:lpstr>L03和L05的加工参考</vt:lpstr>
      <vt:lpstr>Github 项目介绍</vt:lpstr>
      <vt:lpstr>下一步项目计划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 Liu</dc:creator>
  <cp:lastModifiedBy>Chang Liu</cp:lastModifiedBy>
  <cp:revision>15</cp:revision>
  <dcterms:created xsi:type="dcterms:W3CDTF">2026-07-17T11:37:30Z</dcterms:created>
  <dcterms:modified xsi:type="dcterms:W3CDTF">2026-08-31T07:30:54Z</dcterms:modified>
</cp:coreProperties>
</file>